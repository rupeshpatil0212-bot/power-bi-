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9"/>
  </p:notesMasterIdLst>
  <p:sldIdLst>
    <p:sldId id="256" r:id="rId2"/>
    <p:sldId id="272" r:id="rId3"/>
    <p:sldId id="276" r:id="rId4"/>
    <p:sldId id="277" r:id="rId5"/>
    <p:sldId id="287" r:id="rId6"/>
    <p:sldId id="278" r:id="rId7"/>
    <p:sldId id="279" r:id="rId8"/>
    <p:sldId id="284" r:id="rId9"/>
    <p:sldId id="285" r:id="rId10"/>
    <p:sldId id="280" r:id="rId11"/>
    <p:sldId id="257" r:id="rId12"/>
    <p:sldId id="258" r:id="rId13"/>
    <p:sldId id="261" r:id="rId14"/>
    <p:sldId id="281" r:id="rId15"/>
    <p:sldId id="263" r:id="rId16"/>
    <p:sldId id="282" r:id="rId17"/>
    <p:sldId id="283" r:id="rId18"/>
  </p:sldIdLst>
  <p:sldSz cx="14630400" cy="8229600"/>
  <p:notesSz cx="8229600" cy="14630400"/>
  <p:embeddedFontLst>
    <p:embeddedFont>
      <p:font typeface="Arial Black" panose="020B0A04020102020204" pitchFamily="34" charset="0"/>
      <p:bold r:id="rId20"/>
    </p:embeddedFont>
    <p:embeddedFont>
      <p:font typeface="Geist" panose="020B0604020202020204" charset="0"/>
      <p:regular r:id="rId21"/>
    </p:embeddedFont>
    <p:embeddedFont>
      <p:font typeface="Gill Sans MT" panose="020B0502020104020203" pitchFamily="34" charset="0"/>
      <p:regular r:id="rId22"/>
      <p:bold r:id="rId23"/>
      <p:italic r:id="rId24"/>
      <p:boldItalic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10"/>
  </p:normalViewPr>
  <p:slideViewPr>
    <p:cSldViewPr snapToGrid="0" snapToObjects="1">
      <p:cViewPr varScale="1">
        <p:scale>
          <a:sx n="79" d="100"/>
          <a:sy n="79" d="100"/>
        </p:scale>
        <p:origin x="8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20905-3954-474B-A606-562BCA026DC1}" type="doc">
      <dgm:prSet loTypeId="urn:microsoft.com/office/officeart/2011/layout/TabList" loCatId="list" qsTypeId="urn:microsoft.com/office/officeart/2005/8/quickstyle/simple5" qsCatId="simple" csTypeId="urn:microsoft.com/office/officeart/2005/8/colors/colorful1" csCatId="colorful" phldr="1"/>
      <dgm:spPr/>
      <dgm:t>
        <a:bodyPr/>
        <a:lstStyle/>
        <a:p>
          <a:endParaRPr lang="en-US"/>
        </a:p>
      </dgm:t>
    </dgm:pt>
    <dgm:pt modelId="{DC13AB6D-DEA2-4CBB-AC69-1EF1A6AD1512}">
      <dgm:prSet custT="1"/>
      <dgm:spPr/>
      <dgm:t>
        <a:bodyPr/>
        <a:lstStyle/>
        <a:p>
          <a:pPr>
            <a:defRPr cap="all"/>
          </a:pPr>
          <a:r>
            <a:rPr lang="en-IN" sz="2800" b="1" i="0" u="none" dirty="0"/>
            <a:t>1 </a:t>
          </a:r>
        </a:p>
      </dgm:t>
    </dgm:pt>
    <dgm:pt modelId="{2C752582-D9FF-4E04-A92F-827DB4BB5C48}" type="parTrans" cxnId="{4B888393-351D-4489-90C9-5A68061AB236}">
      <dgm:prSet/>
      <dgm:spPr/>
      <dgm:t>
        <a:bodyPr/>
        <a:lstStyle/>
        <a:p>
          <a:endParaRPr lang="en-US" sz="2800"/>
        </a:p>
      </dgm:t>
    </dgm:pt>
    <dgm:pt modelId="{9C64CC83-643C-4E12-8F97-BC19DC031190}" type="sibTrans" cxnId="{4B888393-351D-4489-90C9-5A68061AB236}">
      <dgm:prSet phldrT="01" phldr="0"/>
      <dgm:spPr/>
      <dgm:t>
        <a:bodyPr/>
        <a:lstStyle/>
        <a:p>
          <a:endParaRPr lang="en-US"/>
        </a:p>
      </dgm:t>
    </dgm:pt>
    <dgm:pt modelId="{0C4FCE8A-1A7E-4AC8-A5FC-089D0CCC51AE}">
      <dgm:prSet custT="1"/>
      <dgm:spPr/>
      <dgm:t>
        <a:bodyPr/>
        <a:lstStyle/>
        <a:p>
          <a:pPr>
            <a:defRPr cap="all"/>
          </a:pPr>
          <a:r>
            <a:rPr lang="en-US" sz="2800" b="1" dirty="0"/>
            <a:t>2</a:t>
          </a:r>
          <a:endParaRPr lang="en-IN" sz="2800" b="1" dirty="0"/>
        </a:p>
      </dgm:t>
    </dgm:pt>
    <dgm:pt modelId="{5DAE4BC0-0ECA-4146-9B1E-A3692EF1FF9C}" type="parTrans" cxnId="{75379821-2867-437D-B1A6-A3EE793708CE}">
      <dgm:prSet/>
      <dgm:spPr/>
      <dgm:t>
        <a:bodyPr/>
        <a:lstStyle/>
        <a:p>
          <a:endParaRPr lang="en-IN" sz="2800"/>
        </a:p>
      </dgm:t>
    </dgm:pt>
    <dgm:pt modelId="{ABD36A89-1860-4FA2-A352-AEBDC53064C4}" type="sibTrans" cxnId="{75379821-2867-437D-B1A6-A3EE793708CE}">
      <dgm:prSet/>
      <dgm:spPr/>
      <dgm:t>
        <a:bodyPr/>
        <a:lstStyle/>
        <a:p>
          <a:endParaRPr lang="en-IN" sz="2800"/>
        </a:p>
      </dgm:t>
    </dgm:pt>
    <dgm:pt modelId="{BB2DCE17-ACE6-4EA0-8433-E16262B45257}">
      <dgm:prSet custT="1"/>
      <dgm:spPr/>
      <dgm:t>
        <a:bodyPr/>
        <a:lstStyle/>
        <a:p>
          <a:pPr>
            <a:defRPr cap="all"/>
          </a:pPr>
          <a:r>
            <a:rPr lang="en-US" sz="2800" b="1" dirty="0"/>
            <a:t>3</a:t>
          </a:r>
          <a:endParaRPr lang="en-IN" sz="2800" b="1" dirty="0"/>
        </a:p>
      </dgm:t>
    </dgm:pt>
    <dgm:pt modelId="{C5AFAC7B-FB84-4A59-B465-7FF052F6FF91}" type="parTrans" cxnId="{C2DEDBCB-F1BF-4B2F-8352-BCCDBB3E7997}">
      <dgm:prSet/>
      <dgm:spPr/>
      <dgm:t>
        <a:bodyPr/>
        <a:lstStyle/>
        <a:p>
          <a:endParaRPr lang="en-IN" sz="2800"/>
        </a:p>
      </dgm:t>
    </dgm:pt>
    <dgm:pt modelId="{0D0D6B22-822B-4EC6-A0CE-4DFE5637DC42}" type="sibTrans" cxnId="{C2DEDBCB-F1BF-4B2F-8352-BCCDBB3E7997}">
      <dgm:prSet/>
      <dgm:spPr/>
      <dgm:t>
        <a:bodyPr/>
        <a:lstStyle/>
        <a:p>
          <a:endParaRPr lang="en-IN" sz="2800"/>
        </a:p>
      </dgm:t>
    </dgm:pt>
    <dgm:pt modelId="{B664C89C-1919-4695-B246-31246015E4AB}">
      <dgm:prSet custT="1"/>
      <dgm:spPr/>
      <dgm:t>
        <a:bodyPr/>
        <a:lstStyle/>
        <a:p>
          <a:pPr>
            <a:defRPr cap="all"/>
          </a:pPr>
          <a:r>
            <a:rPr lang="en-IN" sz="2800" b="1" i="0" u="none" dirty="0"/>
            <a:t>4</a:t>
          </a:r>
          <a:endParaRPr lang="en-IN" sz="2800" b="1" u="none" dirty="0"/>
        </a:p>
      </dgm:t>
    </dgm:pt>
    <dgm:pt modelId="{991E48B9-759A-4A2F-9116-B8F5AFB8772C}" type="parTrans" cxnId="{1C7BC355-6BED-4AFD-8354-64E6C50959A3}">
      <dgm:prSet/>
      <dgm:spPr/>
      <dgm:t>
        <a:bodyPr/>
        <a:lstStyle/>
        <a:p>
          <a:endParaRPr lang="en-IN" sz="2800"/>
        </a:p>
      </dgm:t>
    </dgm:pt>
    <dgm:pt modelId="{8A96947B-DB9C-4E72-AB6C-165674B24188}" type="sibTrans" cxnId="{1C7BC355-6BED-4AFD-8354-64E6C50959A3}">
      <dgm:prSet/>
      <dgm:spPr/>
      <dgm:t>
        <a:bodyPr/>
        <a:lstStyle/>
        <a:p>
          <a:endParaRPr lang="en-IN" sz="2800"/>
        </a:p>
      </dgm:t>
    </dgm:pt>
    <dgm:pt modelId="{0DAFC301-6E65-4C10-93E1-EB434395AFCC}">
      <dgm:prSet custT="1"/>
      <dgm:spPr/>
      <dgm:t>
        <a:bodyPr/>
        <a:lstStyle/>
        <a:p>
          <a:pPr>
            <a:buNone/>
          </a:pPr>
          <a:r>
            <a:rPr lang="en-IN" sz="2800" b="0" i="0" dirty="0">
              <a:solidFill>
                <a:schemeClr val="tx1"/>
              </a:solidFill>
            </a:rPr>
            <a:t>Improved Revenue Management</a:t>
          </a:r>
          <a:endParaRPr lang="en-IN" sz="2800" dirty="0">
            <a:solidFill>
              <a:schemeClr val="tx1"/>
            </a:solidFill>
          </a:endParaRPr>
        </a:p>
      </dgm:t>
    </dgm:pt>
    <dgm:pt modelId="{CC3E7468-E89A-4ABC-B8C8-E973C501AB24}" type="parTrans" cxnId="{2353A967-F2F4-45DC-A30C-AA9CB4FCABA9}">
      <dgm:prSet/>
      <dgm:spPr/>
      <dgm:t>
        <a:bodyPr/>
        <a:lstStyle/>
        <a:p>
          <a:endParaRPr lang="en-IN" sz="2800"/>
        </a:p>
      </dgm:t>
    </dgm:pt>
    <dgm:pt modelId="{09EB23D5-0882-42AA-A631-70C03593CC4D}" type="sibTrans" cxnId="{2353A967-F2F4-45DC-A30C-AA9CB4FCABA9}">
      <dgm:prSet/>
      <dgm:spPr/>
      <dgm:t>
        <a:bodyPr/>
        <a:lstStyle/>
        <a:p>
          <a:endParaRPr lang="en-IN" sz="2800"/>
        </a:p>
      </dgm:t>
    </dgm:pt>
    <dgm:pt modelId="{83C2D6FA-41DA-4B54-B3B3-7698EB3928F3}">
      <dgm:prSet custT="1"/>
      <dgm:spPr/>
      <dgm:t>
        <a:bodyPr/>
        <a:lstStyle/>
        <a:p>
          <a:pPr>
            <a:buNone/>
          </a:pPr>
          <a:r>
            <a:rPr lang="en-IN" sz="2800" b="0" i="0" dirty="0">
              <a:solidFill>
                <a:schemeClr val="tx1"/>
              </a:solidFill>
            </a:rPr>
            <a:t>Enhanced Guest Experience</a:t>
          </a:r>
          <a:endParaRPr lang="en-IN" sz="2800" dirty="0">
            <a:solidFill>
              <a:schemeClr val="tx1"/>
            </a:solidFill>
          </a:endParaRPr>
        </a:p>
      </dgm:t>
    </dgm:pt>
    <dgm:pt modelId="{03E92323-F7A5-4630-A10C-89E94D09ACC2}" type="parTrans" cxnId="{49E49D28-A461-4B2B-B553-38A5E678CE48}">
      <dgm:prSet/>
      <dgm:spPr/>
      <dgm:t>
        <a:bodyPr/>
        <a:lstStyle/>
        <a:p>
          <a:endParaRPr lang="en-IN" sz="2800"/>
        </a:p>
      </dgm:t>
    </dgm:pt>
    <dgm:pt modelId="{B3B4E599-C904-4C39-9D86-43A7AF170BC4}" type="sibTrans" cxnId="{49E49D28-A461-4B2B-B553-38A5E678CE48}">
      <dgm:prSet/>
      <dgm:spPr/>
      <dgm:t>
        <a:bodyPr/>
        <a:lstStyle/>
        <a:p>
          <a:endParaRPr lang="en-IN" sz="2800"/>
        </a:p>
      </dgm:t>
    </dgm:pt>
    <dgm:pt modelId="{22BE1400-BC19-4DFE-A2B7-A676B3CF5C5B}">
      <dgm:prSet custT="1"/>
      <dgm:spPr/>
      <dgm:t>
        <a:bodyPr/>
        <a:lstStyle/>
        <a:p>
          <a:pPr>
            <a:buNone/>
          </a:pPr>
          <a:r>
            <a:rPr lang="en-IN" sz="2800" b="0" i="0" dirty="0">
              <a:solidFill>
                <a:schemeClr val="tx1"/>
              </a:solidFill>
            </a:rPr>
            <a:t>Reduced Cancellations Rate</a:t>
          </a:r>
          <a:endParaRPr lang="en-IN" sz="2800" dirty="0">
            <a:solidFill>
              <a:schemeClr val="tx1"/>
            </a:solidFill>
          </a:endParaRPr>
        </a:p>
      </dgm:t>
    </dgm:pt>
    <dgm:pt modelId="{CE8B07C2-A6E6-4137-B2BD-65DB9EACFF8D}" type="parTrans" cxnId="{D955384E-1A0E-4B9E-85D3-5B0B0D215ECB}">
      <dgm:prSet/>
      <dgm:spPr/>
      <dgm:t>
        <a:bodyPr/>
        <a:lstStyle/>
        <a:p>
          <a:endParaRPr lang="en-IN" sz="2800"/>
        </a:p>
      </dgm:t>
    </dgm:pt>
    <dgm:pt modelId="{2ADC795C-0AEE-4224-B79F-04E5A158035A}" type="sibTrans" cxnId="{D955384E-1A0E-4B9E-85D3-5B0B0D215ECB}">
      <dgm:prSet/>
      <dgm:spPr/>
      <dgm:t>
        <a:bodyPr/>
        <a:lstStyle/>
        <a:p>
          <a:endParaRPr lang="en-IN" sz="2800"/>
        </a:p>
      </dgm:t>
    </dgm:pt>
    <dgm:pt modelId="{EB23BE8D-F9C2-4704-81D1-60EFC7B3E6B3}">
      <dgm:prSet custT="1"/>
      <dgm:spPr/>
      <dgm:t>
        <a:bodyPr/>
        <a:lstStyle/>
        <a:p>
          <a:pPr>
            <a:buNone/>
          </a:pPr>
          <a:r>
            <a:rPr lang="en-IN" sz="2800" b="0" i="0" dirty="0">
              <a:solidFill>
                <a:schemeClr val="tx1"/>
              </a:solidFill>
            </a:rPr>
            <a:t>Smarter Inventory Allocation</a:t>
          </a:r>
          <a:endParaRPr lang="en-IN" sz="2800" dirty="0">
            <a:solidFill>
              <a:schemeClr val="tx1"/>
            </a:solidFill>
          </a:endParaRPr>
        </a:p>
      </dgm:t>
    </dgm:pt>
    <dgm:pt modelId="{6BE1D4A6-D59E-4617-B01C-4B0ED1FE7BF7}" type="parTrans" cxnId="{43B0E84D-1CF0-4529-9BEF-679F49A29004}">
      <dgm:prSet/>
      <dgm:spPr/>
      <dgm:t>
        <a:bodyPr/>
        <a:lstStyle/>
        <a:p>
          <a:endParaRPr lang="en-IN" sz="2800"/>
        </a:p>
      </dgm:t>
    </dgm:pt>
    <dgm:pt modelId="{B379406C-FEF0-448F-85B4-46AFAFFD200E}" type="sibTrans" cxnId="{43B0E84D-1CF0-4529-9BEF-679F49A29004}">
      <dgm:prSet/>
      <dgm:spPr/>
      <dgm:t>
        <a:bodyPr/>
        <a:lstStyle/>
        <a:p>
          <a:endParaRPr lang="en-IN" sz="2800"/>
        </a:p>
      </dgm:t>
    </dgm:pt>
    <dgm:pt modelId="{EFD13D86-34CD-4957-9E6D-3DE0CC223708}">
      <dgm:prSet custT="1"/>
      <dgm:spPr/>
      <dgm:t>
        <a:bodyPr/>
        <a:lstStyle/>
        <a:p>
          <a:pPr>
            <a:buNone/>
          </a:pPr>
          <a:r>
            <a:rPr lang="en-US" sz="2800" b="1"/>
            <a:t>5</a:t>
          </a:r>
          <a:endParaRPr lang="en-IN" sz="2800" b="1" dirty="0"/>
        </a:p>
      </dgm:t>
    </dgm:pt>
    <dgm:pt modelId="{C40DC725-1326-462A-B6B8-2D982732E9DC}" type="parTrans" cxnId="{E879ECA1-2D89-472F-BEBA-2CDF970DA1C5}">
      <dgm:prSet/>
      <dgm:spPr/>
      <dgm:t>
        <a:bodyPr/>
        <a:lstStyle/>
        <a:p>
          <a:endParaRPr lang="en-IN" sz="2800"/>
        </a:p>
      </dgm:t>
    </dgm:pt>
    <dgm:pt modelId="{BEDA3E86-C967-47EC-B8AE-DC3F5E45F6E5}" type="sibTrans" cxnId="{E879ECA1-2D89-472F-BEBA-2CDF970DA1C5}">
      <dgm:prSet/>
      <dgm:spPr/>
      <dgm:t>
        <a:bodyPr/>
        <a:lstStyle/>
        <a:p>
          <a:endParaRPr lang="en-IN" sz="2800"/>
        </a:p>
      </dgm:t>
    </dgm:pt>
    <dgm:pt modelId="{58825F06-272C-4BD8-8486-6C0728B9BD90}">
      <dgm:prSet custT="1"/>
      <dgm:spPr/>
      <dgm:t>
        <a:bodyPr/>
        <a:lstStyle/>
        <a:p>
          <a:pPr>
            <a:buNone/>
          </a:pPr>
          <a:r>
            <a:rPr lang="en-IN" sz="2800" b="0" i="0" dirty="0">
              <a:solidFill>
                <a:schemeClr val="tx1"/>
              </a:solidFill>
            </a:rPr>
            <a:t>Targeted Marketing and Segmentation</a:t>
          </a:r>
          <a:endParaRPr lang="en-IN" sz="2800" dirty="0">
            <a:solidFill>
              <a:schemeClr val="tx1"/>
            </a:solidFill>
          </a:endParaRPr>
        </a:p>
      </dgm:t>
    </dgm:pt>
    <dgm:pt modelId="{65A3EFAA-1447-4404-9268-477B3E9FCAED}" type="parTrans" cxnId="{C3C6C927-051B-4B9B-8482-76B496DD3C74}">
      <dgm:prSet/>
      <dgm:spPr/>
      <dgm:t>
        <a:bodyPr/>
        <a:lstStyle/>
        <a:p>
          <a:endParaRPr lang="en-IN" sz="2800"/>
        </a:p>
      </dgm:t>
    </dgm:pt>
    <dgm:pt modelId="{644F601D-E63E-48B0-BF13-74F04009FF10}" type="sibTrans" cxnId="{C3C6C927-051B-4B9B-8482-76B496DD3C74}">
      <dgm:prSet/>
      <dgm:spPr/>
      <dgm:t>
        <a:bodyPr/>
        <a:lstStyle/>
        <a:p>
          <a:endParaRPr lang="en-IN" sz="2800"/>
        </a:p>
      </dgm:t>
    </dgm:pt>
    <dgm:pt modelId="{8CEB2F42-3461-4189-88D1-6C62DDD26290}" type="pres">
      <dgm:prSet presAssocID="{8AA20905-3954-474B-A606-562BCA026DC1}" presName="Name0" presStyleCnt="0">
        <dgm:presLayoutVars>
          <dgm:chMax/>
          <dgm:chPref val="3"/>
          <dgm:dir/>
          <dgm:animOne val="branch"/>
          <dgm:animLvl val="lvl"/>
        </dgm:presLayoutVars>
      </dgm:prSet>
      <dgm:spPr/>
    </dgm:pt>
    <dgm:pt modelId="{153B28BE-83C8-43A2-971A-FEAAB470A7B3}" type="pres">
      <dgm:prSet presAssocID="{DC13AB6D-DEA2-4CBB-AC69-1EF1A6AD1512}" presName="composite" presStyleCnt="0"/>
      <dgm:spPr/>
    </dgm:pt>
    <dgm:pt modelId="{15F41FBB-639A-47CC-905B-9B560549DE02}" type="pres">
      <dgm:prSet presAssocID="{DC13AB6D-DEA2-4CBB-AC69-1EF1A6AD1512}" presName="FirstChild" presStyleLbl="revTx" presStyleIdx="0" presStyleCnt="5">
        <dgm:presLayoutVars>
          <dgm:chMax val="0"/>
          <dgm:chPref val="0"/>
          <dgm:bulletEnabled val="1"/>
        </dgm:presLayoutVars>
      </dgm:prSet>
      <dgm:spPr/>
    </dgm:pt>
    <dgm:pt modelId="{4035070A-8F93-4F3A-A5DB-8FD3DB89AB1A}" type="pres">
      <dgm:prSet presAssocID="{DC13AB6D-DEA2-4CBB-AC69-1EF1A6AD1512}" presName="Parent" presStyleLbl="alignNode1" presStyleIdx="0" presStyleCnt="5">
        <dgm:presLayoutVars>
          <dgm:chMax val="3"/>
          <dgm:chPref val="3"/>
          <dgm:bulletEnabled val="1"/>
        </dgm:presLayoutVars>
      </dgm:prSet>
      <dgm:spPr/>
    </dgm:pt>
    <dgm:pt modelId="{845457AE-489B-4A85-85C8-CA193BC324A2}" type="pres">
      <dgm:prSet presAssocID="{DC13AB6D-DEA2-4CBB-AC69-1EF1A6AD1512}" presName="Accent" presStyleLbl="parChTrans1D1" presStyleIdx="0" presStyleCnt="5"/>
      <dgm:spPr/>
    </dgm:pt>
    <dgm:pt modelId="{8F3C6916-B099-48F4-8894-E983509CBDD1}" type="pres">
      <dgm:prSet presAssocID="{9C64CC83-643C-4E12-8F97-BC19DC031190}" presName="sibTrans" presStyleCnt="0"/>
      <dgm:spPr/>
    </dgm:pt>
    <dgm:pt modelId="{C75DF6B5-4F4E-42F5-BC62-D2EF8E5DEDF8}" type="pres">
      <dgm:prSet presAssocID="{0C4FCE8A-1A7E-4AC8-A5FC-089D0CCC51AE}" presName="composite" presStyleCnt="0"/>
      <dgm:spPr/>
    </dgm:pt>
    <dgm:pt modelId="{2CDCEE5E-DAA2-4BC6-B153-0DFD8EB3B039}" type="pres">
      <dgm:prSet presAssocID="{0C4FCE8A-1A7E-4AC8-A5FC-089D0CCC51AE}" presName="FirstChild" presStyleLbl="revTx" presStyleIdx="1" presStyleCnt="5">
        <dgm:presLayoutVars>
          <dgm:chMax val="0"/>
          <dgm:chPref val="0"/>
          <dgm:bulletEnabled val="1"/>
        </dgm:presLayoutVars>
      </dgm:prSet>
      <dgm:spPr/>
    </dgm:pt>
    <dgm:pt modelId="{388E3667-FA1E-4D17-A498-84590DFEF7D8}" type="pres">
      <dgm:prSet presAssocID="{0C4FCE8A-1A7E-4AC8-A5FC-089D0CCC51AE}" presName="Parent" presStyleLbl="alignNode1" presStyleIdx="1" presStyleCnt="5">
        <dgm:presLayoutVars>
          <dgm:chMax val="3"/>
          <dgm:chPref val="3"/>
          <dgm:bulletEnabled val="1"/>
        </dgm:presLayoutVars>
      </dgm:prSet>
      <dgm:spPr/>
    </dgm:pt>
    <dgm:pt modelId="{CF5CC011-4676-4B00-8F03-35F275C9EC79}" type="pres">
      <dgm:prSet presAssocID="{0C4FCE8A-1A7E-4AC8-A5FC-089D0CCC51AE}" presName="Accent" presStyleLbl="parChTrans1D1" presStyleIdx="1" presStyleCnt="5"/>
      <dgm:spPr/>
    </dgm:pt>
    <dgm:pt modelId="{38EC731A-DF9E-4C4E-B9EB-37B8ED90EDE1}" type="pres">
      <dgm:prSet presAssocID="{ABD36A89-1860-4FA2-A352-AEBDC53064C4}" presName="sibTrans" presStyleCnt="0"/>
      <dgm:spPr/>
    </dgm:pt>
    <dgm:pt modelId="{A7D5B028-C9D7-41F0-8275-24FB23216073}" type="pres">
      <dgm:prSet presAssocID="{BB2DCE17-ACE6-4EA0-8433-E16262B45257}" presName="composite" presStyleCnt="0"/>
      <dgm:spPr/>
    </dgm:pt>
    <dgm:pt modelId="{CEE4A487-ACF6-462C-980F-7EE650E30948}" type="pres">
      <dgm:prSet presAssocID="{BB2DCE17-ACE6-4EA0-8433-E16262B45257}" presName="FirstChild" presStyleLbl="revTx" presStyleIdx="2" presStyleCnt="5">
        <dgm:presLayoutVars>
          <dgm:chMax val="0"/>
          <dgm:chPref val="0"/>
          <dgm:bulletEnabled val="1"/>
        </dgm:presLayoutVars>
      </dgm:prSet>
      <dgm:spPr/>
    </dgm:pt>
    <dgm:pt modelId="{9F5F5FE3-E2FA-4683-A58F-212F6B9384CB}" type="pres">
      <dgm:prSet presAssocID="{BB2DCE17-ACE6-4EA0-8433-E16262B45257}" presName="Parent" presStyleLbl="alignNode1" presStyleIdx="2" presStyleCnt="5">
        <dgm:presLayoutVars>
          <dgm:chMax val="3"/>
          <dgm:chPref val="3"/>
          <dgm:bulletEnabled val="1"/>
        </dgm:presLayoutVars>
      </dgm:prSet>
      <dgm:spPr/>
    </dgm:pt>
    <dgm:pt modelId="{48A4C784-33DC-4C1A-A9A4-C65084709F2F}" type="pres">
      <dgm:prSet presAssocID="{BB2DCE17-ACE6-4EA0-8433-E16262B45257}" presName="Accent" presStyleLbl="parChTrans1D1" presStyleIdx="2" presStyleCnt="5"/>
      <dgm:spPr/>
    </dgm:pt>
    <dgm:pt modelId="{A07D35F1-BB36-4295-AEC6-C7860642BCBB}" type="pres">
      <dgm:prSet presAssocID="{0D0D6B22-822B-4EC6-A0CE-4DFE5637DC42}" presName="sibTrans" presStyleCnt="0"/>
      <dgm:spPr/>
    </dgm:pt>
    <dgm:pt modelId="{B6FD6777-3A40-4D2C-815C-3B5823783942}" type="pres">
      <dgm:prSet presAssocID="{B664C89C-1919-4695-B246-31246015E4AB}" presName="composite" presStyleCnt="0"/>
      <dgm:spPr/>
    </dgm:pt>
    <dgm:pt modelId="{3987C63F-6C28-462B-BD5B-A95830D2BE7D}" type="pres">
      <dgm:prSet presAssocID="{B664C89C-1919-4695-B246-31246015E4AB}" presName="FirstChild" presStyleLbl="revTx" presStyleIdx="3" presStyleCnt="5">
        <dgm:presLayoutVars>
          <dgm:chMax val="0"/>
          <dgm:chPref val="0"/>
          <dgm:bulletEnabled val="1"/>
        </dgm:presLayoutVars>
      </dgm:prSet>
      <dgm:spPr/>
    </dgm:pt>
    <dgm:pt modelId="{9DC59705-31CC-46F1-95E1-19AC33F57F0B}" type="pres">
      <dgm:prSet presAssocID="{B664C89C-1919-4695-B246-31246015E4AB}" presName="Parent" presStyleLbl="alignNode1" presStyleIdx="3" presStyleCnt="5">
        <dgm:presLayoutVars>
          <dgm:chMax val="3"/>
          <dgm:chPref val="3"/>
          <dgm:bulletEnabled val="1"/>
        </dgm:presLayoutVars>
      </dgm:prSet>
      <dgm:spPr/>
    </dgm:pt>
    <dgm:pt modelId="{12DF6DAD-B646-468C-9091-66859C538E6A}" type="pres">
      <dgm:prSet presAssocID="{B664C89C-1919-4695-B246-31246015E4AB}" presName="Accent" presStyleLbl="parChTrans1D1" presStyleIdx="3" presStyleCnt="5"/>
      <dgm:spPr/>
    </dgm:pt>
    <dgm:pt modelId="{94DF468B-D804-458F-A1F2-E5408AF1A579}" type="pres">
      <dgm:prSet presAssocID="{8A96947B-DB9C-4E72-AB6C-165674B24188}" presName="sibTrans" presStyleCnt="0"/>
      <dgm:spPr/>
    </dgm:pt>
    <dgm:pt modelId="{8860C14F-E2CF-4E2A-9DC4-6072B83402AE}" type="pres">
      <dgm:prSet presAssocID="{EFD13D86-34CD-4957-9E6D-3DE0CC223708}" presName="composite" presStyleCnt="0"/>
      <dgm:spPr/>
    </dgm:pt>
    <dgm:pt modelId="{44F7A9EC-29EC-482C-A5DF-C52F481CA464}" type="pres">
      <dgm:prSet presAssocID="{EFD13D86-34CD-4957-9E6D-3DE0CC223708}" presName="FirstChild" presStyleLbl="revTx" presStyleIdx="4" presStyleCnt="5">
        <dgm:presLayoutVars>
          <dgm:chMax val="0"/>
          <dgm:chPref val="0"/>
          <dgm:bulletEnabled val="1"/>
        </dgm:presLayoutVars>
      </dgm:prSet>
      <dgm:spPr/>
    </dgm:pt>
    <dgm:pt modelId="{CE2F01B9-7A19-46FF-9CEC-6EFE3DAB0107}" type="pres">
      <dgm:prSet presAssocID="{EFD13D86-34CD-4957-9E6D-3DE0CC223708}" presName="Parent" presStyleLbl="alignNode1" presStyleIdx="4" presStyleCnt="5">
        <dgm:presLayoutVars>
          <dgm:chMax val="3"/>
          <dgm:chPref val="3"/>
          <dgm:bulletEnabled val="1"/>
        </dgm:presLayoutVars>
      </dgm:prSet>
      <dgm:spPr/>
    </dgm:pt>
    <dgm:pt modelId="{07B02CAB-A202-45D2-9678-932F9931987B}" type="pres">
      <dgm:prSet presAssocID="{EFD13D86-34CD-4957-9E6D-3DE0CC223708}" presName="Accent" presStyleLbl="parChTrans1D1" presStyleIdx="4" presStyleCnt="5"/>
      <dgm:spPr/>
    </dgm:pt>
  </dgm:ptLst>
  <dgm:cxnLst>
    <dgm:cxn modelId="{EB73C606-22E3-4F0B-A672-3A9880EA9DAC}" type="presOf" srcId="{EB23BE8D-F9C2-4704-81D1-60EFC7B3E6B3}" destId="{3987C63F-6C28-462B-BD5B-A95830D2BE7D}" srcOrd="0" destOrd="0" presId="urn:microsoft.com/office/officeart/2011/layout/TabList"/>
    <dgm:cxn modelId="{C1ABBB1B-321B-481F-945F-3E298AAF5C5E}" type="presOf" srcId="{DC13AB6D-DEA2-4CBB-AC69-1EF1A6AD1512}" destId="{4035070A-8F93-4F3A-A5DB-8FD3DB89AB1A}" srcOrd="0" destOrd="0" presId="urn:microsoft.com/office/officeart/2011/layout/TabList"/>
    <dgm:cxn modelId="{9237A91D-B4AF-449F-8304-5F047FD7E1C5}" type="presOf" srcId="{0DAFC301-6E65-4C10-93E1-EB434395AFCC}" destId="{15F41FBB-639A-47CC-905B-9B560549DE02}" srcOrd="0" destOrd="0" presId="urn:microsoft.com/office/officeart/2011/layout/TabList"/>
    <dgm:cxn modelId="{75379821-2867-437D-B1A6-A3EE793708CE}" srcId="{8AA20905-3954-474B-A606-562BCA026DC1}" destId="{0C4FCE8A-1A7E-4AC8-A5FC-089D0CCC51AE}" srcOrd="1" destOrd="0" parTransId="{5DAE4BC0-0ECA-4146-9B1E-A3692EF1FF9C}" sibTransId="{ABD36A89-1860-4FA2-A352-AEBDC53064C4}"/>
    <dgm:cxn modelId="{937A8524-4C35-4537-A535-30E13AE68CBB}" type="presOf" srcId="{0C4FCE8A-1A7E-4AC8-A5FC-089D0CCC51AE}" destId="{388E3667-FA1E-4D17-A498-84590DFEF7D8}" srcOrd="0" destOrd="0" presId="urn:microsoft.com/office/officeart/2011/layout/TabList"/>
    <dgm:cxn modelId="{C3C6C927-051B-4B9B-8482-76B496DD3C74}" srcId="{EFD13D86-34CD-4957-9E6D-3DE0CC223708}" destId="{58825F06-272C-4BD8-8486-6C0728B9BD90}" srcOrd="0" destOrd="0" parTransId="{65A3EFAA-1447-4404-9268-477B3E9FCAED}" sibTransId="{644F601D-E63E-48B0-BF13-74F04009FF10}"/>
    <dgm:cxn modelId="{49E49D28-A461-4B2B-B553-38A5E678CE48}" srcId="{0C4FCE8A-1A7E-4AC8-A5FC-089D0CCC51AE}" destId="{83C2D6FA-41DA-4B54-B3B3-7698EB3928F3}" srcOrd="0" destOrd="0" parTransId="{03E92323-F7A5-4630-A10C-89E94D09ACC2}" sibTransId="{B3B4E599-C904-4C39-9D86-43A7AF170BC4}"/>
    <dgm:cxn modelId="{4D675D5F-CC8D-4AF4-87B9-2493206A92D5}" type="presOf" srcId="{22BE1400-BC19-4DFE-A2B7-A676B3CF5C5B}" destId="{CEE4A487-ACF6-462C-980F-7EE650E30948}" srcOrd="0" destOrd="0" presId="urn:microsoft.com/office/officeart/2011/layout/TabList"/>
    <dgm:cxn modelId="{F3291F61-B5BE-41BC-994F-DCE1C072000B}" type="presOf" srcId="{8AA20905-3954-474B-A606-562BCA026DC1}" destId="{8CEB2F42-3461-4189-88D1-6C62DDD26290}" srcOrd="0" destOrd="0" presId="urn:microsoft.com/office/officeart/2011/layout/TabList"/>
    <dgm:cxn modelId="{2353A967-F2F4-45DC-A30C-AA9CB4FCABA9}" srcId="{DC13AB6D-DEA2-4CBB-AC69-1EF1A6AD1512}" destId="{0DAFC301-6E65-4C10-93E1-EB434395AFCC}" srcOrd="0" destOrd="0" parTransId="{CC3E7468-E89A-4ABC-B8C8-E973C501AB24}" sibTransId="{09EB23D5-0882-42AA-A631-70C03593CC4D}"/>
    <dgm:cxn modelId="{43B0E84D-1CF0-4529-9BEF-679F49A29004}" srcId="{B664C89C-1919-4695-B246-31246015E4AB}" destId="{EB23BE8D-F9C2-4704-81D1-60EFC7B3E6B3}" srcOrd="0" destOrd="0" parTransId="{6BE1D4A6-D59E-4617-B01C-4B0ED1FE7BF7}" sibTransId="{B379406C-FEF0-448F-85B4-46AFAFFD200E}"/>
    <dgm:cxn modelId="{D955384E-1A0E-4B9E-85D3-5B0B0D215ECB}" srcId="{BB2DCE17-ACE6-4EA0-8433-E16262B45257}" destId="{22BE1400-BC19-4DFE-A2B7-A676B3CF5C5B}" srcOrd="0" destOrd="0" parTransId="{CE8B07C2-A6E6-4137-B2BD-65DB9EACFF8D}" sibTransId="{2ADC795C-0AEE-4224-B79F-04E5A158035A}"/>
    <dgm:cxn modelId="{1C7BC355-6BED-4AFD-8354-64E6C50959A3}" srcId="{8AA20905-3954-474B-A606-562BCA026DC1}" destId="{B664C89C-1919-4695-B246-31246015E4AB}" srcOrd="3" destOrd="0" parTransId="{991E48B9-759A-4A2F-9116-B8F5AFB8772C}" sibTransId="{8A96947B-DB9C-4E72-AB6C-165674B24188}"/>
    <dgm:cxn modelId="{DA9CCB8E-7E44-4B8F-803D-8BF730FFAC97}" type="presOf" srcId="{EFD13D86-34CD-4957-9E6D-3DE0CC223708}" destId="{CE2F01B9-7A19-46FF-9CEC-6EFE3DAB0107}" srcOrd="0" destOrd="0" presId="urn:microsoft.com/office/officeart/2011/layout/TabList"/>
    <dgm:cxn modelId="{92C2BD8F-DA57-44F2-9D99-35E998F3C66D}" type="presOf" srcId="{58825F06-272C-4BD8-8486-6C0728B9BD90}" destId="{44F7A9EC-29EC-482C-A5DF-C52F481CA464}" srcOrd="0" destOrd="0" presId="urn:microsoft.com/office/officeart/2011/layout/TabList"/>
    <dgm:cxn modelId="{4B888393-351D-4489-90C9-5A68061AB236}" srcId="{8AA20905-3954-474B-A606-562BCA026DC1}" destId="{DC13AB6D-DEA2-4CBB-AC69-1EF1A6AD1512}" srcOrd="0" destOrd="0" parTransId="{2C752582-D9FF-4E04-A92F-827DB4BB5C48}" sibTransId="{9C64CC83-643C-4E12-8F97-BC19DC031190}"/>
    <dgm:cxn modelId="{B329429C-9E48-447C-8120-6D15511FA66D}" type="presOf" srcId="{BB2DCE17-ACE6-4EA0-8433-E16262B45257}" destId="{9F5F5FE3-E2FA-4683-A58F-212F6B9384CB}" srcOrd="0" destOrd="0" presId="urn:microsoft.com/office/officeart/2011/layout/TabList"/>
    <dgm:cxn modelId="{E879ECA1-2D89-472F-BEBA-2CDF970DA1C5}" srcId="{8AA20905-3954-474B-A606-562BCA026DC1}" destId="{EFD13D86-34CD-4957-9E6D-3DE0CC223708}" srcOrd="4" destOrd="0" parTransId="{C40DC725-1326-462A-B6B8-2D982732E9DC}" sibTransId="{BEDA3E86-C967-47EC-B8AE-DC3F5E45F6E5}"/>
    <dgm:cxn modelId="{7E67B4AA-1273-4B74-8824-BFF333D23BB4}" type="presOf" srcId="{83C2D6FA-41DA-4B54-B3B3-7698EB3928F3}" destId="{2CDCEE5E-DAA2-4BC6-B153-0DFD8EB3B039}" srcOrd="0" destOrd="0" presId="urn:microsoft.com/office/officeart/2011/layout/TabList"/>
    <dgm:cxn modelId="{35A110AD-6316-4DA0-8B16-221B339E7D80}" type="presOf" srcId="{B664C89C-1919-4695-B246-31246015E4AB}" destId="{9DC59705-31CC-46F1-95E1-19AC33F57F0B}" srcOrd="0" destOrd="0" presId="urn:microsoft.com/office/officeart/2011/layout/TabList"/>
    <dgm:cxn modelId="{C2DEDBCB-F1BF-4B2F-8352-BCCDBB3E7997}" srcId="{8AA20905-3954-474B-A606-562BCA026DC1}" destId="{BB2DCE17-ACE6-4EA0-8433-E16262B45257}" srcOrd="2" destOrd="0" parTransId="{C5AFAC7B-FB84-4A59-B465-7FF052F6FF91}" sibTransId="{0D0D6B22-822B-4EC6-A0CE-4DFE5637DC42}"/>
    <dgm:cxn modelId="{81E01944-1558-4986-A2FA-A4CADBFB27C5}" type="presParOf" srcId="{8CEB2F42-3461-4189-88D1-6C62DDD26290}" destId="{153B28BE-83C8-43A2-971A-FEAAB470A7B3}" srcOrd="0" destOrd="0" presId="urn:microsoft.com/office/officeart/2011/layout/TabList"/>
    <dgm:cxn modelId="{C8EF06C4-3EA8-40EC-9858-B3237CDD960D}" type="presParOf" srcId="{153B28BE-83C8-43A2-971A-FEAAB470A7B3}" destId="{15F41FBB-639A-47CC-905B-9B560549DE02}" srcOrd="0" destOrd="0" presId="urn:microsoft.com/office/officeart/2011/layout/TabList"/>
    <dgm:cxn modelId="{B4F0D8E3-F506-4BDA-A516-5648432D2168}" type="presParOf" srcId="{153B28BE-83C8-43A2-971A-FEAAB470A7B3}" destId="{4035070A-8F93-4F3A-A5DB-8FD3DB89AB1A}" srcOrd="1" destOrd="0" presId="urn:microsoft.com/office/officeart/2011/layout/TabList"/>
    <dgm:cxn modelId="{D4B7BA01-7591-4BE8-9ECB-26BF429D6EB4}" type="presParOf" srcId="{153B28BE-83C8-43A2-971A-FEAAB470A7B3}" destId="{845457AE-489B-4A85-85C8-CA193BC324A2}" srcOrd="2" destOrd="0" presId="urn:microsoft.com/office/officeart/2011/layout/TabList"/>
    <dgm:cxn modelId="{18F8A13F-1282-4E09-8D85-322A88E5D1C8}" type="presParOf" srcId="{8CEB2F42-3461-4189-88D1-6C62DDD26290}" destId="{8F3C6916-B099-48F4-8894-E983509CBDD1}" srcOrd="1" destOrd="0" presId="urn:microsoft.com/office/officeart/2011/layout/TabList"/>
    <dgm:cxn modelId="{F373B4D2-F08F-4B11-BFB3-985EABAFA12D}" type="presParOf" srcId="{8CEB2F42-3461-4189-88D1-6C62DDD26290}" destId="{C75DF6B5-4F4E-42F5-BC62-D2EF8E5DEDF8}" srcOrd="2" destOrd="0" presId="urn:microsoft.com/office/officeart/2011/layout/TabList"/>
    <dgm:cxn modelId="{5BA23772-E9D6-4ADE-8D09-F80A33CE22CC}" type="presParOf" srcId="{C75DF6B5-4F4E-42F5-BC62-D2EF8E5DEDF8}" destId="{2CDCEE5E-DAA2-4BC6-B153-0DFD8EB3B039}" srcOrd="0" destOrd="0" presId="urn:microsoft.com/office/officeart/2011/layout/TabList"/>
    <dgm:cxn modelId="{F6EE24D4-FD2C-46FA-9EC2-BE068D3892A1}" type="presParOf" srcId="{C75DF6B5-4F4E-42F5-BC62-D2EF8E5DEDF8}" destId="{388E3667-FA1E-4D17-A498-84590DFEF7D8}" srcOrd="1" destOrd="0" presId="urn:microsoft.com/office/officeart/2011/layout/TabList"/>
    <dgm:cxn modelId="{E25D95B6-D76D-46C3-B747-A7285346A27B}" type="presParOf" srcId="{C75DF6B5-4F4E-42F5-BC62-D2EF8E5DEDF8}" destId="{CF5CC011-4676-4B00-8F03-35F275C9EC79}" srcOrd="2" destOrd="0" presId="urn:microsoft.com/office/officeart/2011/layout/TabList"/>
    <dgm:cxn modelId="{4FD11860-2591-47CF-B1A3-6DCA08001B8B}" type="presParOf" srcId="{8CEB2F42-3461-4189-88D1-6C62DDD26290}" destId="{38EC731A-DF9E-4C4E-B9EB-37B8ED90EDE1}" srcOrd="3" destOrd="0" presId="urn:microsoft.com/office/officeart/2011/layout/TabList"/>
    <dgm:cxn modelId="{839EEAD9-A231-4972-9917-D6EFFCEF9A17}" type="presParOf" srcId="{8CEB2F42-3461-4189-88D1-6C62DDD26290}" destId="{A7D5B028-C9D7-41F0-8275-24FB23216073}" srcOrd="4" destOrd="0" presId="urn:microsoft.com/office/officeart/2011/layout/TabList"/>
    <dgm:cxn modelId="{98C71E09-5ABD-4AAD-B762-FF6A83C94393}" type="presParOf" srcId="{A7D5B028-C9D7-41F0-8275-24FB23216073}" destId="{CEE4A487-ACF6-462C-980F-7EE650E30948}" srcOrd="0" destOrd="0" presId="urn:microsoft.com/office/officeart/2011/layout/TabList"/>
    <dgm:cxn modelId="{DE511925-65D9-4F8C-B276-B404EA6A7C5C}" type="presParOf" srcId="{A7D5B028-C9D7-41F0-8275-24FB23216073}" destId="{9F5F5FE3-E2FA-4683-A58F-212F6B9384CB}" srcOrd="1" destOrd="0" presId="urn:microsoft.com/office/officeart/2011/layout/TabList"/>
    <dgm:cxn modelId="{FAADF810-6C21-46E5-AA3C-2DF2B3C57003}" type="presParOf" srcId="{A7D5B028-C9D7-41F0-8275-24FB23216073}" destId="{48A4C784-33DC-4C1A-A9A4-C65084709F2F}" srcOrd="2" destOrd="0" presId="urn:microsoft.com/office/officeart/2011/layout/TabList"/>
    <dgm:cxn modelId="{4F92F089-8F8C-42A8-BE3D-41C2D90D7EB2}" type="presParOf" srcId="{8CEB2F42-3461-4189-88D1-6C62DDD26290}" destId="{A07D35F1-BB36-4295-AEC6-C7860642BCBB}" srcOrd="5" destOrd="0" presId="urn:microsoft.com/office/officeart/2011/layout/TabList"/>
    <dgm:cxn modelId="{613C5F53-9B18-469B-8D9B-A9BB7D72E39A}" type="presParOf" srcId="{8CEB2F42-3461-4189-88D1-6C62DDD26290}" destId="{B6FD6777-3A40-4D2C-815C-3B5823783942}" srcOrd="6" destOrd="0" presId="urn:microsoft.com/office/officeart/2011/layout/TabList"/>
    <dgm:cxn modelId="{C8297E09-565F-472A-B01D-3BD0E3439B47}" type="presParOf" srcId="{B6FD6777-3A40-4D2C-815C-3B5823783942}" destId="{3987C63F-6C28-462B-BD5B-A95830D2BE7D}" srcOrd="0" destOrd="0" presId="urn:microsoft.com/office/officeart/2011/layout/TabList"/>
    <dgm:cxn modelId="{4AA583AE-908D-4CAB-8ECB-B16C1CB4D21B}" type="presParOf" srcId="{B6FD6777-3A40-4D2C-815C-3B5823783942}" destId="{9DC59705-31CC-46F1-95E1-19AC33F57F0B}" srcOrd="1" destOrd="0" presId="urn:microsoft.com/office/officeart/2011/layout/TabList"/>
    <dgm:cxn modelId="{C7787551-1FFF-45DC-A96B-FDEF9C200F3A}" type="presParOf" srcId="{B6FD6777-3A40-4D2C-815C-3B5823783942}" destId="{12DF6DAD-B646-468C-9091-66859C538E6A}" srcOrd="2" destOrd="0" presId="urn:microsoft.com/office/officeart/2011/layout/TabList"/>
    <dgm:cxn modelId="{D1913FED-0863-406A-AE0A-118CDFB3C7FD}" type="presParOf" srcId="{8CEB2F42-3461-4189-88D1-6C62DDD26290}" destId="{94DF468B-D804-458F-A1F2-E5408AF1A579}" srcOrd="7" destOrd="0" presId="urn:microsoft.com/office/officeart/2011/layout/TabList"/>
    <dgm:cxn modelId="{6EB6EC8A-AB1A-45CA-934E-2F4DA0CDF3FD}" type="presParOf" srcId="{8CEB2F42-3461-4189-88D1-6C62DDD26290}" destId="{8860C14F-E2CF-4E2A-9DC4-6072B83402AE}" srcOrd="8" destOrd="0" presId="urn:microsoft.com/office/officeart/2011/layout/TabList"/>
    <dgm:cxn modelId="{73833FE5-5CB6-454B-BFD7-0C6C3AE4833C}" type="presParOf" srcId="{8860C14F-E2CF-4E2A-9DC4-6072B83402AE}" destId="{44F7A9EC-29EC-482C-A5DF-C52F481CA464}" srcOrd="0" destOrd="0" presId="urn:microsoft.com/office/officeart/2011/layout/TabList"/>
    <dgm:cxn modelId="{E86C2FE3-5752-48A4-AC47-44C02F258691}" type="presParOf" srcId="{8860C14F-E2CF-4E2A-9DC4-6072B83402AE}" destId="{CE2F01B9-7A19-46FF-9CEC-6EFE3DAB0107}" srcOrd="1" destOrd="0" presId="urn:microsoft.com/office/officeart/2011/layout/TabList"/>
    <dgm:cxn modelId="{30566CA2-558F-4E5B-BE34-23DE8B877452}" type="presParOf" srcId="{8860C14F-E2CF-4E2A-9DC4-6072B83402AE}" destId="{07B02CAB-A202-45D2-9678-932F9931987B}"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B02CAB-A202-45D2-9678-932F9931987B}">
      <dsp:nvSpPr>
        <dsp:cNvPr id="0" name=""/>
        <dsp:cNvSpPr/>
      </dsp:nvSpPr>
      <dsp:spPr>
        <a:xfrm>
          <a:off x="0" y="4256051"/>
          <a:ext cx="10982131" cy="0"/>
        </a:xfrm>
        <a:prstGeom prst="line">
          <a:avLst/>
        </a:prstGeom>
        <a:noFill/>
        <a:ln w="15875"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DF6DAD-B646-468C-9091-66859C538E6A}">
      <dsp:nvSpPr>
        <dsp:cNvPr id="0" name=""/>
        <dsp:cNvSpPr/>
      </dsp:nvSpPr>
      <dsp:spPr>
        <a:xfrm>
          <a:off x="0" y="3397259"/>
          <a:ext cx="10982131" cy="0"/>
        </a:xfrm>
        <a:prstGeom prst="line">
          <a:avLst/>
        </a:prstGeom>
        <a:noFill/>
        <a:ln w="15875"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A4C784-33DC-4C1A-A9A4-C65084709F2F}">
      <dsp:nvSpPr>
        <dsp:cNvPr id="0" name=""/>
        <dsp:cNvSpPr/>
      </dsp:nvSpPr>
      <dsp:spPr>
        <a:xfrm>
          <a:off x="0" y="2538467"/>
          <a:ext cx="10982131" cy="0"/>
        </a:xfrm>
        <a:prstGeom prst="line">
          <a:avLst/>
        </a:prstGeom>
        <a:noFill/>
        <a:ln w="15875"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5CC011-4676-4B00-8F03-35F275C9EC79}">
      <dsp:nvSpPr>
        <dsp:cNvPr id="0" name=""/>
        <dsp:cNvSpPr/>
      </dsp:nvSpPr>
      <dsp:spPr>
        <a:xfrm>
          <a:off x="0" y="1679674"/>
          <a:ext cx="10982131" cy="0"/>
        </a:xfrm>
        <a:prstGeom prst="line">
          <a:avLst/>
        </a:prstGeom>
        <a:noFill/>
        <a:ln w="15875"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5457AE-489B-4A85-85C8-CA193BC324A2}">
      <dsp:nvSpPr>
        <dsp:cNvPr id="0" name=""/>
        <dsp:cNvSpPr/>
      </dsp:nvSpPr>
      <dsp:spPr>
        <a:xfrm>
          <a:off x="0" y="820882"/>
          <a:ext cx="10982131" cy="0"/>
        </a:xfrm>
        <a:prstGeom prst="line">
          <a:avLst/>
        </a:prstGeom>
        <a:noFill/>
        <a:ln w="15875"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F41FBB-639A-47CC-905B-9B560549DE02}">
      <dsp:nvSpPr>
        <dsp:cNvPr id="0" name=""/>
        <dsp:cNvSpPr/>
      </dsp:nvSpPr>
      <dsp:spPr>
        <a:xfrm>
          <a:off x="2855354" y="2985"/>
          <a:ext cx="8126776" cy="8178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1244600">
            <a:lnSpc>
              <a:spcPct val="90000"/>
            </a:lnSpc>
            <a:spcBef>
              <a:spcPct val="0"/>
            </a:spcBef>
            <a:spcAft>
              <a:spcPct val="35000"/>
            </a:spcAft>
            <a:buNone/>
          </a:pPr>
          <a:r>
            <a:rPr lang="en-IN" sz="2800" b="0" i="0" kern="1200" dirty="0">
              <a:solidFill>
                <a:schemeClr val="tx1"/>
              </a:solidFill>
            </a:rPr>
            <a:t>Improved Revenue Management</a:t>
          </a:r>
          <a:endParaRPr lang="en-IN" sz="2800" kern="1200" dirty="0">
            <a:solidFill>
              <a:schemeClr val="tx1"/>
            </a:solidFill>
          </a:endParaRPr>
        </a:p>
      </dsp:txBody>
      <dsp:txXfrm>
        <a:off x="2855354" y="2985"/>
        <a:ext cx="8126776" cy="817897"/>
      </dsp:txXfrm>
    </dsp:sp>
    <dsp:sp modelId="{4035070A-8F93-4F3A-A5DB-8FD3DB89AB1A}">
      <dsp:nvSpPr>
        <dsp:cNvPr id="0" name=""/>
        <dsp:cNvSpPr/>
      </dsp:nvSpPr>
      <dsp:spPr>
        <a:xfrm>
          <a:off x="0" y="2985"/>
          <a:ext cx="2855354" cy="817897"/>
        </a:xfrm>
        <a:prstGeom prst="round2SameRect">
          <a:avLst>
            <a:gd name="adj1" fmla="val 16670"/>
            <a:gd name="adj2" fmla="val 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w="9525" cap="flat" cmpd="sng" algn="ctr">
          <a:solidFill>
            <a:schemeClr val="accent2">
              <a:hueOff val="0"/>
              <a:satOff val="0"/>
              <a:lumOff val="0"/>
              <a:alphaOff val="0"/>
            </a:schemeClr>
          </a:solidFill>
          <a:prstDash val="solid"/>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1">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defRPr cap="all"/>
          </a:pPr>
          <a:r>
            <a:rPr lang="en-IN" sz="2800" b="1" i="0" u="none" kern="1200" dirty="0"/>
            <a:t>1 </a:t>
          </a:r>
        </a:p>
      </dsp:txBody>
      <dsp:txXfrm>
        <a:off x="39934" y="42919"/>
        <a:ext cx="2775486" cy="777963"/>
      </dsp:txXfrm>
    </dsp:sp>
    <dsp:sp modelId="{2CDCEE5E-DAA2-4BC6-B153-0DFD8EB3B039}">
      <dsp:nvSpPr>
        <dsp:cNvPr id="0" name=""/>
        <dsp:cNvSpPr/>
      </dsp:nvSpPr>
      <dsp:spPr>
        <a:xfrm>
          <a:off x="2855354" y="861777"/>
          <a:ext cx="8126776" cy="8178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1244600">
            <a:lnSpc>
              <a:spcPct val="90000"/>
            </a:lnSpc>
            <a:spcBef>
              <a:spcPct val="0"/>
            </a:spcBef>
            <a:spcAft>
              <a:spcPct val="35000"/>
            </a:spcAft>
            <a:buNone/>
          </a:pPr>
          <a:r>
            <a:rPr lang="en-IN" sz="2800" b="0" i="0" kern="1200" dirty="0">
              <a:solidFill>
                <a:schemeClr val="tx1"/>
              </a:solidFill>
            </a:rPr>
            <a:t>Enhanced Guest Experience</a:t>
          </a:r>
          <a:endParaRPr lang="en-IN" sz="2800" kern="1200" dirty="0">
            <a:solidFill>
              <a:schemeClr val="tx1"/>
            </a:solidFill>
          </a:endParaRPr>
        </a:p>
      </dsp:txBody>
      <dsp:txXfrm>
        <a:off x="2855354" y="861777"/>
        <a:ext cx="8126776" cy="817897"/>
      </dsp:txXfrm>
    </dsp:sp>
    <dsp:sp modelId="{388E3667-FA1E-4D17-A498-84590DFEF7D8}">
      <dsp:nvSpPr>
        <dsp:cNvPr id="0" name=""/>
        <dsp:cNvSpPr/>
      </dsp:nvSpPr>
      <dsp:spPr>
        <a:xfrm>
          <a:off x="0" y="861777"/>
          <a:ext cx="2855354" cy="817897"/>
        </a:xfrm>
        <a:prstGeom prst="round2SameRect">
          <a:avLst>
            <a:gd name="adj1" fmla="val 16670"/>
            <a:gd name="adj2" fmla="val 0"/>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w="9525" cap="flat" cmpd="sng" algn="ctr">
          <a:solidFill>
            <a:schemeClr val="accent3">
              <a:hueOff val="0"/>
              <a:satOff val="0"/>
              <a:lumOff val="0"/>
              <a:alphaOff val="0"/>
            </a:schemeClr>
          </a:solidFill>
          <a:prstDash val="solid"/>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1">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defRPr cap="all"/>
          </a:pPr>
          <a:r>
            <a:rPr lang="en-US" sz="2800" b="1" kern="1200" dirty="0"/>
            <a:t>2</a:t>
          </a:r>
          <a:endParaRPr lang="en-IN" sz="2800" b="1" kern="1200" dirty="0"/>
        </a:p>
      </dsp:txBody>
      <dsp:txXfrm>
        <a:off x="39934" y="901711"/>
        <a:ext cx="2775486" cy="777963"/>
      </dsp:txXfrm>
    </dsp:sp>
    <dsp:sp modelId="{CEE4A487-ACF6-462C-980F-7EE650E30948}">
      <dsp:nvSpPr>
        <dsp:cNvPr id="0" name=""/>
        <dsp:cNvSpPr/>
      </dsp:nvSpPr>
      <dsp:spPr>
        <a:xfrm>
          <a:off x="2855354" y="1720569"/>
          <a:ext cx="8126776" cy="8178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1244600">
            <a:lnSpc>
              <a:spcPct val="90000"/>
            </a:lnSpc>
            <a:spcBef>
              <a:spcPct val="0"/>
            </a:spcBef>
            <a:spcAft>
              <a:spcPct val="35000"/>
            </a:spcAft>
            <a:buNone/>
          </a:pPr>
          <a:r>
            <a:rPr lang="en-IN" sz="2800" b="0" i="0" kern="1200" dirty="0">
              <a:solidFill>
                <a:schemeClr val="tx1"/>
              </a:solidFill>
            </a:rPr>
            <a:t>Reduced Cancellations Rate</a:t>
          </a:r>
          <a:endParaRPr lang="en-IN" sz="2800" kern="1200" dirty="0">
            <a:solidFill>
              <a:schemeClr val="tx1"/>
            </a:solidFill>
          </a:endParaRPr>
        </a:p>
      </dsp:txBody>
      <dsp:txXfrm>
        <a:off x="2855354" y="1720569"/>
        <a:ext cx="8126776" cy="817897"/>
      </dsp:txXfrm>
    </dsp:sp>
    <dsp:sp modelId="{9F5F5FE3-E2FA-4683-A58F-212F6B9384CB}">
      <dsp:nvSpPr>
        <dsp:cNvPr id="0" name=""/>
        <dsp:cNvSpPr/>
      </dsp:nvSpPr>
      <dsp:spPr>
        <a:xfrm>
          <a:off x="0" y="1720569"/>
          <a:ext cx="2855354" cy="817897"/>
        </a:xfrm>
        <a:prstGeom prst="round2SameRect">
          <a:avLst>
            <a:gd name="adj1" fmla="val 16670"/>
            <a:gd name="adj2" fmla="val 0"/>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w="9525" cap="flat" cmpd="sng" algn="ctr">
          <a:solidFill>
            <a:schemeClr val="accent4">
              <a:hueOff val="0"/>
              <a:satOff val="0"/>
              <a:lumOff val="0"/>
              <a:alphaOff val="0"/>
            </a:schemeClr>
          </a:solidFill>
          <a:prstDash val="solid"/>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1">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defRPr cap="all"/>
          </a:pPr>
          <a:r>
            <a:rPr lang="en-US" sz="2800" b="1" kern="1200" dirty="0"/>
            <a:t>3</a:t>
          </a:r>
          <a:endParaRPr lang="en-IN" sz="2800" b="1" kern="1200" dirty="0"/>
        </a:p>
      </dsp:txBody>
      <dsp:txXfrm>
        <a:off x="39934" y="1760503"/>
        <a:ext cx="2775486" cy="777963"/>
      </dsp:txXfrm>
    </dsp:sp>
    <dsp:sp modelId="{3987C63F-6C28-462B-BD5B-A95830D2BE7D}">
      <dsp:nvSpPr>
        <dsp:cNvPr id="0" name=""/>
        <dsp:cNvSpPr/>
      </dsp:nvSpPr>
      <dsp:spPr>
        <a:xfrm>
          <a:off x="2855354" y="2579362"/>
          <a:ext cx="8126776" cy="8178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1244600">
            <a:lnSpc>
              <a:spcPct val="90000"/>
            </a:lnSpc>
            <a:spcBef>
              <a:spcPct val="0"/>
            </a:spcBef>
            <a:spcAft>
              <a:spcPct val="35000"/>
            </a:spcAft>
            <a:buNone/>
          </a:pPr>
          <a:r>
            <a:rPr lang="en-IN" sz="2800" b="0" i="0" kern="1200" dirty="0">
              <a:solidFill>
                <a:schemeClr val="tx1"/>
              </a:solidFill>
            </a:rPr>
            <a:t>Smarter Inventory Allocation</a:t>
          </a:r>
          <a:endParaRPr lang="en-IN" sz="2800" kern="1200" dirty="0">
            <a:solidFill>
              <a:schemeClr val="tx1"/>
            </a:solidFill>
          </a:endParaRPr>
        </a:p>
      </dsp:txBody>
      <dsp:txXfrm>
        <a:off x="2855354" y="2579362"/>
        <a:ext cx="8126776" cy="817897"/>
      </dsp:txXfrm>
    </dsp:sp>
    <dsp:sp modelId="{9DC59705-31CC-46F1-95E1-19AC33F57F0B}">
      <dsp:nvSpPr>
        <dsp:cNvPr id="0" name=""/>
        <dsp:cNvSpPr/>
      </dsp:nvSpPr>
      <dsp:spPr>
        <a:xfrm>
          <a:off x="0" y="2579362"/>
          <a:ext cx="2855354" cy="817897"/>
        </a:xfrm>
        <a:prstGeom prst="round2SameRect">
          <a:avLst>
            <a:gd name="adj1" fmla="val 16670"/>
            <a:gd name="adj2" fmla="val 0"/>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w="9525" cap="flat" cmpd="sng" algn="ctr">
          <a:solidFill>
            <a:schemeClr val="accent5">
              <a:hueOff val="0"/>
              <a:satOff val="0"/>
              <a:lumOff val="0"/>
              <a:alphaOff val="0"/>
            </a:schemeClr>
          </a:solidFill>
          <a:prstDash val="solid"/>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1">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defRPr cap="all"/>
          </a:pPr>
          <a:r>
            <a:rPr lang="en-IN" sz="2800" b="1" i="0" u="none" kern="1200" dirty="0"/>
            <a:t>4</a:t>
          </a:r>
          <a:endParaRPr lang="en-IN" sz="2800" b="1" u="none" kern="1200" dirty="0"/>
        </a:p>
      </dsp:txBody>
      <dsp:txXfrm>
        <a:off x="39934" y="2619296"/>
        <a:ext cx="2775486" cy="777963"/>
      </dsp:txXfrm>
    </dsp:sp>
    <dsp:sp modelId="{44F7A9EC-29EC-482C-A5DF-C52F481CA464}">
      <dsp:nvSpPr>
        <dsp:cNvPr id="0" name=""/>
        <dsp:cNvSpPr/>
      </dsp:nvSpPr>
      <dsp:spPr>
        <a:xfrm>
          <a:off x="2855354" y="3438154"/>
          <a:ext cx="8126776" cy="8178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1244600">
            <a:lnSpc>
              <a:spcPct val="90000"/>
            </a:lnSpc>
            <a:spcBef>
              <a:spcPct val="0"/>
            </a:spcBef>
            <a:spcAft>
              <a:spcPct val="35000"/>
            </a:spcAft>
            <a:buNone/>
          </a:pPr>
          <a:r>
            <a:rPr lang="en-IN" sz="2800" b="0" i="0" kern="1200" dirty="0">
              <a:solidFill>
                <a:schemeClr val="tx1"/>
              </a:solidFill>
            </a:rPr>
            <a:t>Targeted Marketing and Segmentation</a:t>
          </a:r>
          <a:endParaRPr lang="en-IN" sz="2800" kern="1200" dirty="0">
            <a:solidFill>
              <a:schemeClr val="tx1"/>
            </a:solidFill>
          </a:endParaRPr>
        </a:p>
      </dsp:txBody>
      <dsp:txXfrm>
        <a:off x="2855354" y="3438154"/>
        <a:ext cx="8126776" cy="817897"/>
      </dsp:txXfrm>
    </dsp:sp>
    <dsp:sp modelId="{CE2F01B9-7A19-46FF-9CEC-6EFE3DAB0107}">
      <dsp:nvSpPr>
        <dsp:cNvPr id="0" name=""/>
        <dsp:cNvSpPr/>
      </dsp:nvSpPr>
      <dsp:spPr>
        <a:xfrm>
          <a:off x="0" y="3438154"/>
          <a:ext cx="2855354" cy="817897"/>
        </a:xfrm>
        <a:prstGeom prst="round2SameRect">
          <a:avLst>
            <a:gd name="adj1" fmla="val 16670"/>
            <a:gd name="adj2" fmla="val 0"/>
          </a:avLst>
        </a:prstGeom>
        <a:gradFill rotWithShape="0">
          <a:gsLst>
            <a:gs pos="0">
              <a:schemeClr val="accent6">
                <a:hueOff val="0"/>
                <a:satOff val="0"/>
                <a:lumOff val="0"/>
                <a:alphaOff val="0"/>
                <a:tint val="98000"/>
                <a:satMod val="110000"/>
                <a:lumMod val="104000"/>
              </a:schemeClr>
            </a:gs>
            <a:gs pos="69000">
              <a:schemeClr val="accent6">
                <a:hueOff val="0"/>
                <a:satOff val="0"/>
                <a:lumOff val="0"/>
                <a:alphaOff val="0"/>
                <a:shade val="88000"/>
                <a:satMod val="130000"/>
                <a:lumMod val="92000"/>
              </a:schemeClr>
            </a:gs>
            <a:gs pos="100000">
              <a:schemeClr val="accent6">
                <a:hueOff val="0"/>
                <a:satOff val="0"/>
                <a:lumOff val="0"/>
                <a:alphaOff val="0"/>
                <a:shade val="78000"/>
                <a:satMod val="130000"/>
                <a:lumMod val="92000"/>
              </a:schemeClr>
            </a:gs>
          </a:gsLst>
          <a:lin ang="5400000" scaled="0"/>
        </a:gradFill>
        <a:ln w="9525" cap="flat" cmpd="sng" algn="ctr">
          <a:solidFill>
            <a:schemeClr val="accent6">
              <a:hueOff val="0"/>
              <a:satOff val="0"/>
              <a:lumOff val="0"/>
              <a:alphaOff val="0"/>
            </a:schemeClr>
          </a:solidFill>
          <a:prstDash val="solid"/>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1">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b="1" kern="1200"/>
            <a:t>5</a:t>
          </a:r>
          <a:endParaRPr lang="en-IN" sz="2800" b="1" kern="1200" dirty="0"/>
        </a:p>
      </dsp:txBody>
      <dsp:txXfrm>
        <a:off x="39934" y="3478088"/>
        <a:ext cx="2775486" cy="777963"/>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643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01335" y="962758"/>
            <a:ext cx="10364488" cy="3049717"/>
          </a:xfrm>
        </p:spPr>
        <p:txBody>
          <a:bodyPr bIns="0" anchor="b">
            <a:normAutofit/>
          </a:bodyPr>
          <a:lstStyle>
            <a:lvl1pPr algn="l">
              <a:defRPr sz="7920"/>
            </a:lvl1pPr>
          </a:lstStyle>
          <a:p>
            <a:r>
              <a:rPr lang="en-US"/>
              <a:t>Click to edit Master title style</a:t>
            </a:r>
            <a:endParaRPr lang="en-US" dirty="0"/>
          </a:p>
        </p:txBody>
      </p:sp>
      <p:sp>
        <p:nvSpPr>
          <p:cNvPr id="3" name="Subtitle 2"/>
          <p:cNvSpPr>
            <a:spLocks noGrp="1"/>
          </p:cNvSpPr>
          <p:nvPr>
            <p:ph type="subTitle" idx="1"/>
          </p:nvPr>
        </p:nvSpPr>
        <p:spPr>
          <a:xfrm>
            <a:off x="2901336" y="4237446"/>
            <a:ext cx="10364486" cy="1173145"/>
          </a:xfrm>
        </p:spPr>
        <p:txBody>
          <a:bodyPr tIns="91440" bIns="91440">
            <a:normAutofit/>
          </a:bodyPr>
          <a:lstStyle>
            <a:lvl1pPr marL="0" indent="0" algn="l">
              <a:buNone/>
              <a:defRPr sz="2160" b="0" cap="all" baseline="0">
                <a:solidFill>
                  <a:schemeClr val="tx1"/>
                </a:solidFill>
              </a:defRPr>
            </a:lvl1pPr>
            <a:lvl2pPr marL="548640" indent="0" algn="ctr">
              <a:buNone/>
              <a:defRPr sz="216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a:xfrm>
            <a:off x="2899801" y="395169"/>
            <a:ext cx="5968698" cy="371041"/>
          </a:xfrm>
        </p:spPr>
        <p:txBody>
          <a:bodyPr/>
          <a:lstStyle/>
          <a:p>
            <a:endParaRPr lang="en-US" dirty="0"/>
          </a:p>
        </p:txBody>
      </p:sp>
      <p:sp>
        <p:nvSpPr>
          <p:cNvPr id="6" name="Slide Number Placeholder 5"/>
          <p:cNvSpPr>
            <a:spLocks noGrp="1"/>
          </p:cNvSpPr>
          <p:nvPr>
            <p:ph type="sldNum" sz="quarter" idx="12"/>
          </p:nvPr>
        </p:nvSpPr>
        <p:spPr>
          <a:xfrm>
            <a:off x="1725197" y="958767"/>
            <a:ext cx="973223" cy="604294"/>
          </a:xfrm>
        </p:spPr>
        <p:txBody>
          <a:bodyPr/>
          <a:lstStyle/>
          <a:p>
            <a:fld id="{6D22F896-40B5-4ADD-8801-0D06FADFA095}" type="slidenum">
              <a:rPr lang="en-US" dirty="0"/>
              <a:t>‹#›</a:t>
            </a:fld>
            <a:endParaRPr lang="en-US" dirty="0"/>
          </a:p>
        </p:txBody>
      </p:sp>
      <p:cxnSp>
        <p:nvCxnSpPr>
          <p:cNvPr id="15" name="Straight Connector 14"/>
          <p:cNvCxnSpPr/>
          <p:nvPr/>
        </p:nvCxnSpPr>
        <p:spPr>
          <a:xfrm>
            <a:off x="2901336" y="4234250"/>
            <a:ext cx="10364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52167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901589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45087" y="2107356"/>
            <a:ext cx="10371785" cy="2265540"/>
          </a:xfrm>
        </p:spPr>
        <p:txBody>
          <a:bodyPr anchor="b">
            <a:normAutofit/>
          </a:bodyPr>
          <a:lstStyle>
            <a:lvl1pPr algn="l">
              <a:defRPr sz="4320"/>
            </a:lvl1pPr>
          </a:lstStyle>
          <a:p>
            <a:r>
              <a:rPr lang="en-US"/>
              <a:t>Click to edit Master title style</a:t>
            </a:r>
            <a:endParaRPr lang="en-US" dirty="0"/>
          </a:p>
        </p:txBody>
      </p:sp>
      <p:sp>
        <p:nvSpPr>
          <p:cNvPr id="3" name="Text Placeholder 2"/>
          <p:cNvSpPr>
            <a:spLocks noGrp="1"/>
          </p:cNvSpPr>
          <p:nvPr>
            <p:ph type="body" idx="1"/>
          </p:nvPr>
        </p:nvSpPr>
        <p:spPr>
          <a:xfrm>
            <a:off x="1745087" y="4567435"/>
            <a:ext cx="10356535" cy="1215515"/>
          </a:xfrm>
        </p:spPr>
        <p:txBody>
          <a:bodyPr tIns="91440">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745087" y="4565982"/>
            <a:ext cx="103565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68694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39061" y="965867"/>
            <a:ext cx="11526762" cy="127116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736797" y="2413054"/>
            <a:ext cx="5574182" cy="41383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96525" y="2420812"/>
            <a:ext cx="5574182" cy="41298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355883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6630" y="964996"/>
            <a:ext cx="11529193" cy="126758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6629" y="2423459"/>
            <a:ext cx="5574182" cy="962332"/>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736629" y="3389124"/>
            <a:ext cx="5574182" cy="31733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94835" y="2427604"/>
            <a:ext cx="5574182" cy="962684"/>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94835" y="3385790"/>
            <a:ext cx="5574182" cy="31648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58664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138861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5939331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3606" y="958768"/>
            <a:ext cx="3927719" cy="2696540"/>
          </a:xfrm>
        </p:spPr>
        <p:txBody>
          <a:bodyPr anchor="b">
            <a:normAutofit/>
          </a:bodyPr>
          <a:lstStyle>
            <a:lvl1pPr algn="l">
              <a:defRPr sz="2880"/>
            </a:lvl1pPr>
          </a:lstStyle>
          <a:p>
            <a:r>
              <a:rPr lang="en-US"/>
              <a:t>Click to edit Master title style</a:t>
            </a:r>
            <a:endParaRPr lang="en-US" dirty="0"/>
          </a:p>
        </p:txBody>
      </p:sp>
      <p:sp>
        <p:nvSpPr>
          <p:cNvPr id="3" name="Content Placeholder 2"/>
          <p:cNvSpPr>
            <a:spLocks noGrp="1"/>
          </p:cNvSpPr>
          <p:nvPr>
            <p:ph idx="1"/>
          </p:nvPr>
        </p:nvSpPr>
        <p:spPr>
          <a:xfrm>
            <a:off x="6052457" y="958769"/>
            <a:ext cx="7214964" cy="559059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3606" y="3846590"/>
            <a:ext cx="3930016" cy="2697817"/>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737936" y="3846589"/>
            <a:ext cx="392338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9996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8972865" y="578605"/>
            <a:ext cx="4889440" cy="617892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741447" y="1355416"/>
            <a:ext cx="6638794" cy="2196701"/>
          </a:xfrm>
        </p:spPr>
        <p:txBody>
          <a:bodyPr anchor="b">
            <a:normAutofit/>
          </a:bodyPr>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9749268" y="1347051"/>
            <a:ext cx="3349405" cy="4639592"/>
          </a:xfrm>
          <a:solidFill>
            <a:schemeClr val="bg1">
              <a:lumMod val="85000"/>
            </a:schemeClr>
          </a:solidFill>
          <a:ln w="9525" cap="sq">
            <a:noFill/>
            <a:miter lim="800000"/>
          </a:ln>
          <a:effectLst/>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40395" y="3775191"/>
            <a:ext cx="6629285" cy="2404490"/>
          </a:xfrm>
        </p:spPr>
        <p:txBody>
          <a:bodyPr>
            <a:normAutofit/>
          </a:bodyPr>
          <a:lstStyle>
            <a:lvl1pPr marL="0" indent="0" algn="l">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1736859" y="6563828"/>
            <a:ext cx="6632821" cy="384148"/>
          </a:xfrm>
        </p:spPr>
        <p:txBody>
          <a:bodyPr/>
          <a:lstStyle>
            <a:lvl1pPr algn="l">
              <a:defRPr/>
            </a:lvl1pPr>
          </a:lstStyle>
          <a:p>
            <a:fld id="{48A87A34-81AB-432B-8DAE-1953F412C126}" type="datetimeFigureOut">
              <a:rPr lang="en-US" dirty="0"/>
              <a:pPr/>
              <a:t>11/13/2025</a:t>
            </a:fld>
            <a:endParaRPr lang="en-US" dirty="0"/>
          </a:p>
        </p:txBody>
      </p:sp>
      <p:sp>
        <p:nvSpPr>
          <p:cNvPr id="6" name="Footer Placeholder 5"/>
          <p:cNvSpPr>
            <a:spLocks noGrp="1"/>
          </p:cNvSpPr>
          <p:nvPr>
            <p:ph type="ftr" sz="quarter" idx="11"/>
          </p:nvPr>
        </p:nvSpPr>
        <p:spPr>
          <a:xfrm>
            <a:off x="1736858" y="382369"/>
            <a:ext cx="6649205" cy="385117"/>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736859" y="3772326"/>
            <a:ext cx="663282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504563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41661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26933" y="958768"/>
            <a:ext cx="1938890" cy="559186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733606" y="958768"/>
            <a:ext cx="9394596" cy="55918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1326933" y="958768"/>
            <a:ext cx="0" cy="559186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42629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859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8273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950320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4630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596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423372"/>
            <a:ext cx="14630400" cy="49271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8">
            <a:extLst>
              <a:ext uri="{28A0092B-C50C-407E-A947-70E740481C1C}">
                <a14:useLocalDpi xmlns:a14="http://schemas.microsoft.com/office/drawing/2010/main" val="0"/>
              </a:ext>
            </a:extLst>
          </a:blip>
          <a:srcRect t="1538" b="-1538"/>
          <a:stretch/>
        </p:blipFill>
        <p:spPr bwMode="black">
          <a:xfrm>
            <a:off x="0" y="7351776"/>
            <a:ext cx="14630400" cy="891540"/>
          </a:xfrm>
          <a:prstGeom prst="rect">
            <a:avLst/>
          </a:prstGeom>
        </p:spPr>
      </p:pic>
      <p:sp>
        <p:nvSpPr>
          <p:cNvPr id="2" name="Title Placeholder 1"/>
          <p:cNvSpPr>
            <a:spLocks noGrp="1"/>
          </p:cNvSpPr>
          <p:nvPr>
            <p:ph type="title"/>
          </p:nvPr>
        </p:nvSpPr>
        <p:spPr>
          <a:xfrm>
            <a:off x="1741895" y="965423"/>
            <a:ext cx="11523930" cy="12590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741895" y="2418879"/>
            <a:ext cx="11523930" cy="41407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64966" y="396445"/>
            <a:ext cx="4200858" cy="371041"/>
          </a:xfrm>
          <a:prstGeom prst="rect">
            <a:avLst/>
          </a:prstGeom>
        </p:spPr>
        <p:txBody>
          <a:bodyPr vert="horz" lIns="91440" tIns="45720" rIns="91440" bIns="45720" rtlCol="0" anchor="ctr"/>
          <a:lstStyle>
            <a:lvl1pPr algn="r">
              <a:defRPr sz="1200">
                <a:solidFill>
                  <a:schemeClr val="tx1">
                    <a:tint val="75000"/>
                  </a:schemeClr>
                </a:solidFill>
              </a:defRPr>
            </a:lvl1pPr>
          </a:lstStyle>
          <a:p>
            <a:fld id="{48A87A34-81AB-432B-8DAE-1953F412C126}" type="datetimeFigureOut">
              <a:rPr lang="en-US" dirty="0"/>
              <a:pPr/>
              <a:t>11/13/2025</a:t>
            </a:fld>
            <a:endParaRPr lang="en-US" dirty="0"/>
          </a:p>
        </p:txBody>
      </p:sp>
      <p:sp>
        <p:nvSpPr>
          <p:cNvPr id="5" name="Footer Placeholder 4"/>
          <p:cNvSpPr>
            <a:spLocks noGrp="1"/>
          </p:cNvSpPr>
          <p:nvPr>
            <p:ph type="ftr" sz="quarter" idx="3"/>
          </p:nvPr>
        </p:nvSpPr>
        <p:spPr>
          <a:xfrm>
            <a:off x="1741895" y="395169"/>
            <a:ext cx="7126603" cy="371041"/>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76073" y="958767"/>
            <a:ext cx="973223" cy="604294"/>
          </a:xfrm>
          <a:prstGeom prst="rect">
            <a:avLst/>
          </a:prstGeom>
        </p:spPr>
        <p:txBody>
          <a:bodyPr vert="horz" lIns="91440" tIns="45720" rIns="91440" bIns="45720" rtlCol="0" anchor="t"/>
          <a:lstStyle>
            <a:lvl1pPr algn="r">
              <a:defRPr sz="336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7354096"/>
            <a:ext cx="146304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2326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1097280" rtl="0" eaLnBrk="1" latinLnBrk="0" hangingPunct="1">
        <a:lnSpc>
          <a:spcPct val="90000"/>
        </a:lnSpc>
        <a:spcBef>
          <a:spcPct val="0"/>
        </a:spcBef>
        <a:buNone/>
        <a:defRPr sz="3840" b="0" i="0" kern="1200" cap="all">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2160" kern="1200" cap="none"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920" kern="120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680" kern="1200" cap="none"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2337197"/>
            <a:ext cx="7556421" cy="2126337"/>
          </a:xfrm>
          <a:prstGeom prst="rect">
            <a:avLst/>
          </a:prstGeom>
          <a:noFill/>
          <a:ln/>
        </p:spPr>
        <p:txBody>
          <a:bodyPr wrap="square" lIns="0" tIns="0" rIns="0" bIns="0" rtlCol="0" anchor="t"/>
          <a:lstStyle/>
          <a:p>
            <a:pPr>
              <a:lnSpc>
                <a:spcPts val="5550"/>
              </a:lnSpc>
            </a:pPr>
            <a:r>
              <a:rPr lang="en-I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HOTEL BOOKING  </a:t>
            </a:r>
          </a:p>
          <a:p>
            <a:pPr>
              <a:lnSpc>
                <a:spcPts val="5550"/>
              </a:lnSpc>
            </a:pPr>
            <a:r>
              <a:rPr lang="en-I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ANALYSIS </a:t>
            </a:r>
            <a:endParaRPr 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endParaRPr>
          </a:p>
        </p:txBody>
      </p:sp>
      <p:sp>
        <p:nvSpPr>
          <p:cNvPr id="7" name="TextBox 6">
            <a:extLst>
              <a:ext uri="{FF2B5EF4-FFF2-40B4-BE49-F238E27FC236}">
                <a16:creationId xmlns:a16="http://schemas.microsoft.com/office/drawing/2014/main" id="{67CC0063-B8BF-D00C-57F3-FD8FCAD01F83}"/>
              </a:ext>
            </a:extLst>
          </p:cNvPr>
          <p:cNvSpPr txBox="1"/>
          <p:nvPr/>
        </p:nvSpPr>
        <p:spPr>
          <a:xfrm>
            <a:off x="6280190" y="5006898"/>
            <a:ext cx="2752298" cy="1815882"/>
          </a:xfrm>
          <a:prstGeom prst="rect">
            <a:avLst/>
          </a:prstGeom>
          <a:noFill/>
        </p:spPr>
        <p:txBody>
          <a:bodyPr wrap="square" rtlCol="0">
            <a:spAutoFit/>
          </a:bodyPr>
          <a:lstStyle/>
          <a:p>
            <a:r>
              <a:rPr lang="en-US" sz="2800" dirty="0"/>
              <a:t>PRESENTED BY</a:t>
            </a:r>
          </a:p>
          <a:p>
            <a:endParaRPr lang="en-US" sz="2800" dirty="0"/>
          </a:p>
          <a:p>
            <a:r>
              <a:rPr lang="en-US" sz="2800" dirty="0"/>
              <a:t>RUPESH PATIL </a:t>
            </a:r>
          </a:p>
          <a:p>
            <a:endParaRPr lang="en-IN" sz="2800" dirty="0"/>
          </a:p>
        </p:txBody>
      </p:sp>
      <p:sp>
        <p:nvSpPr>
          <p:cNvPr id="9" name="TextBox 8">
            <a:extLst>
              <a:ext uri="{FF2B5EF4-FFF2-40B4-BE49-F238E27FC236}">
                <a16:creationId xmlns:a16="http://schemas.microsoft.com/office/drawing/2014/main" id="{945B490A-5C69-DBFC-88AB-F68F9ECE57FC}"/>
              </a:ext>
            </a:extLst>
          </p:cNvPr>
          <p:cNvSpPr txBox="1"/>
          <p:nvPr/>
        </p:nvSpPr>
        <p:spPr>
          <a:xfrm>
            <a:off x="10114156" y="5107260"/>
            <a:ext cx="2752298" cy="1354217"/>
          </a:xfrm>
          <a:prstGeom prst="rect">
            <a:avLst/>
          </a:prstGeom>
          <a:noFill/>
        </p:spPr>
        <p:txBody>
          <a:bodyPr wrap="square" rtlCol="0">
            <a:spAutoFit/>
          </a:bodyPr>
          <a:lstStyle/>
          <a:p>
            <a:pPr algn="ctr"/>
            <a:r>
              <a:rPr lang="en-US" dirty="0"/>
              <a:t>GUIDED BY </a:t>
            </a:r>
            <a:r>
              <a:rPr lang="en-US" sz="3200" dirty="0"/>
              <a:t>ABHISHEK</a:t>
            </a:r>
            <a:r>
              <a:rPr lang="en-US" dirty="0"/>
              <a:t> </a:t>
            </a:r>
            <a:r>
              <a:rPr lang="en-US" sz="3200" dirty="0"/>
              <a:t>WAHVAL</a:t>
            </a:r>
            <a:endParaRPr lang="en-IN" sz="3200" dirty="0"/>
          </a:p>
        </p:txBody>
      </p:sp>
      <p:pic>
        <p:nvPicPr>
          <p:cNvPr id="8" name="Picture 7">
            <a:extLst>
              <a:ext uri="{FF2B5EF4-FFF2-40B4-BE49-F238E27FC236}">
                <a16:creationId xmlns:a16="http://schemas.microsoft.com/office/drawing/2014/main" id="{D6BA7B84-92C5-4AD0-DC2B-22B4872D82AB}"/>
              </a:ext>
            </a:extLst>
          </p:cNvPr>
          <p:cNvPicPr>
            <a:picLocks noChangeAspect="1"/>
          </p:cNvPicPr>
          <p:nvPr/>
        </p:nvPicPr>
        <p:blipFill>
          <a:blip r:embed="rId3"/>
          <a:stretch>
            <a:fillRect/>
          </a:stretch>
        </p:blipFill>
        <p:spPr>
          <a:xfrm>
            <a:off x="165370" y="330740"/>
            <a:ext cx="5671225" cy="43093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7B34DD-958A-56D5-A79B-BF8301E72F12}"/>
              </a:ext>
            </a:extLst>
          </p:cNvPr>
          <p:cNvSpPr txBox="1"/>
          <p:nvPr/>
        </p:nvSpPr>
        <p:spPr>
          <a:xfrm>
            <a:off x="2252546" y="698017"/>
            <a:ext cx="9612352" cy="4739759"/>
          </a:xfrm>
          <a:prstGeom prst="rect">
            <a:avLst/>
          </a:prstGeom>
          <a:noFill/>
        </p:spPr>
        <p:txBody>
          <a:bodyPr wrap="square" rtlCol="0">
            <a:spAutoFit/>
          </a:bodyPr>
          <a:lstStyle/>
          <a:p>
            <a:pPr algn="ctr"/>
            <a:r>
              <a:rPr lang="en-IN" dirty="0">
                <a:solidFill>
                  <a:schemeClr val="accent5">
                    <a:lumMod val="50000"/>
                  </a:schemeClr>
                </a:solidFill>
              </a:rPr>
              <a:t>                                  </a:t>
            </a:r>
            <a:r>
              <a:rPr lang="en-IN" sz="3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TABLE OF CONTENT</a:t>
            </a:r>
            <a:endParaRPr lang="en-IN" sz="3200" dirty="0">
              <a:solidFill>
                <a:schemeClr val="accent5">
                  <a:lumMod val="50000"/>
                </a:schemeClr>
              </a:solidFill>
              <a:latin typeface="Arial Black" panose="020B0A04020102020204" pitchFamily="34" charset="0"/>
            </a:endParaRPr>
          </a:p>
          <a:p>
            <a:pPr marL="342900" indent="-342900">
              <a:buAutoNum type="arabicParenR"/>
            </a:pPr>
            <a:r>
              <a:rPr lang="en-IN" dirty="0">
                <a:solidFill>
                  <a:schemeClr val="accent5">
                    <a:lumMod val="50000"/>
                  </a:schemeClr>
                </a:solidFill>
                <a:latin typeface="Arial Black" panose="020B0A04020102020204" pitchFamily="34" charset="0"/>
              </a:rPr>
              <a:t>PROJECT SUMMARY</a:t>
            </a:r>
          </a:p>
          <a:p>
            <a:pPr marL="342900" indent="-342900">
              <a:buAutoNum type="arabicParenR"/>
            </a:pPr>
            <a:endParaRPr lang="en-IN" dirty="0">
              <a:solidFill>
                <a:schemeClr val="accent5">
                  <a:lumMod val="50000"/>
                </a:schemeClr>
              </a:solidFill>
              <a:latin typeface="Arial Black" panose="020B0A04020102020204" pitchFamily="34" charset="0"/>
            </a:endParaRPr>
          </a:p>
          <a:p>
            <a:pPr marL="342900" indent="-342900">
              <a:buAutoNum type="arabicParenR" startAt="2"/>
            </a:pPr>
            <a:r>
              <a:rPr lang="en-IN" dirty="0">
                <a:solidFill>
                  <a:schemeClr val="accent5">
                    <a:lumMod val="50000"/>
                  </a:schemeClr>
                </a:solidFill>
                <a:latin typeface="Arial Black" panose="020B0A04020102020204" pitchFamily="34" charset="0"/>
              </a:rPr>
              <a:t>ANALYSING DATA</a:t>
            </a:r>
          </a:p>
          <a:p>
            <a:pPr marL="342900" indent="-342900">
              <a:buAutoNum type="arabicParenR" startAt="2"/>
            </a:pPr>
            <a:endParaRPr lang="en-IN" dirty="0">
              <a:solidFill>
                <a:schemeClr val="accent5">
                  <a:lumMod val="50000"/>
                </a:schemeClr>
              </a:solidFill>
              <a:latin typeface="Arial Black" panose="020B0A04020102020204" pitchFamily="34" charset="0"/>
            </a:endParaRPr>
          </a:p>
          <a:p>
            <a:pPr marL="342900" indent="-342900">
              <a:buAutoNum type="arabicParenR" startAt="2"/>
            </a:pPr>
            <a:r>
              <a:rPr lang="en-IN" dirty="0">
                <a:solidFill>
                  <a:schemeClr val="accent5">
                    <a:lumMod val="50000"/>
                  </a:schemeClr>
                </a:solidFill>
                <a:latin typeface="Arial Black" panose="020B0A04020102020204" pitchFamily="34" charset="0"/>
              </a:rPr>
              <a:t> EXPECTED OUTCOME</a:t>
            </a:r>
          </a:p>
          <a:p>
            <a:endParaRPr lang="en-IN" dirty="0">
              <a:solidFill>
                <a:schemeClr val="accent5">
                  <a:lumMod val="50000"/>
                </a:schemeClr>
              </a:solidFill>
              <a:latin typeface="Arial Black" panose="020B0A04020102020204" pitchFamily="34" charset="0"/>
            </a:endParaRPr>
          </a:p>
          <a:p>
            <a:r>
              <a:rPr lang="en-IN" dirty="0">
                <a:solidFill>
                  <a:schemeClr val="accent5">
                    <a:lumMod val="50000"/>
                  </a:schemeClr>
                </a:solidFill>
                <a:latin typeface="Arial Black" panose="020B0A04020102020204" pitchFamily="34" charset="0"/>
              </a:rPr>
              <a:t>4)  ABOUT DATA</a:t>
            </a:r>
          </a:p>
          <a:p>
            <a:endParaRPr lang="en-IN" dirty="0">
              <a:solidFill>
                <a:schemeClr val="accent5">
                  <a:lumMod val="50000"/>
                </a:schemeClr>
              </a:solidFill>
              <a:latin typeface="Arial Black" panose="020B0A04020102020204" pitchFamily="34" charset="0"/>
            </a:endParaRPr>
          </a:p>
          <a:p>
            <a:r>
              <a:rPr lang="en-IN" dirty="0">
                <a:solidFill>
                  <a:schemeClr val="accent5">
                    <a:lumMod val="50000"/>
                  </a:schemeClr>
                </a:solidFill>
                <a:latin typeface="Arial Black" panose="020B0A04020102020204" pitchFamily="34" charset="0"/>
              </a:rPr>
              <a:t>5)  PROBLEM STATEMENT</a:t>
            </a:r>
          </a:p>
          <a:p>
            <a:endParaRPr lang="en-IN" dirty="0">
              <a:solidFill>
                <a:schemeClr val="accent5">
                  <a:lumMod val="50000"/>
                </a:schemeClr>
              </a:solidFill>
              <a:latin typeface="Arial Black" panose="020B0A04020102020204" pitchFamily="34" charset="0"/>
            </a:endParaRPr>
          </a:p>
          <a:p>
            <a:r>
              <a:rPr lang="en-IN" dirty="0">
                <a:solidFill>
                  <a:schemeClr val="accent5">
                    <a:lumMod val="50000"/>
                  </a:schemeClr>
                </a:solidFill>
                <a:latin typeface="Arial Black" panose="020B0A04020102020204" pitchFamily="34" charset="0"/>
              </a:rPr>
              <a:t>6)  DATA CLEANING</a:t>
            </a:r>
          </a:p>
          <a:p>
            <a:endParaRPr lang="en-IN" dirty="0">
              <a:solidFill>
                <a:schemeClr val="accent5">
                  <a:lumMod val="50000"/>
                </a:schemeClr>
              </a:solidFill>
              <a:latin typeface="Arial Black" panose="020B0A04020102020204" pitchFamily="34" charset="0"/>
            </a:endParaRPr>
          </a:p>
          <a:p>
            <a:r>
              <a:rPr lang="en-IN" dirty="0">
                <a:solidFill>
                  <a:schemeClr val="accent5">
                    <a:lumMod val="50000"/>
                  </a:schemeClr>
                </a:solidFill>
                <a:latin typeface="Arial Black" panose="020B0A04020102020204" pitchFamily="34" charset="0"/>
              </a:rPr>
              <a:t>7)  DATA VISUALISATION AND ANALYSIS</a:t>
            </a:r>
          </a:p>
          <a:p>
            <a:endParaRPr lang="en-IN" dirty="0">
              <a:solidFill>
                <a:schemeClr val="accent5">
                  <a:lumMod val="50000"/>
                </a:schemeClr>
              </a:solidFill>
              <a:latin typeface="Arial Black" panose="020B0A04020102020204" pitchFamily="34" charset="0"/>
            </a:endParaRPr>
          </a:p>
          <a:p>
            <a:r>
              <a:rPr lang="en-IN" dirty="0">
                <a:solidFill>
                  <a:schemeClr val="accent5">
                    <a:lumMod val="50000"/>
                  </a:schemeClr>
                </a:solidFill>
                <a:latin typeface="Arial Black" panose="020B0A04020102020204" pitchFamily="34" charset="0"/>
              </a:rPr>
              <a:t>8) CONCLUSION</a:t>
            </a:r>
          </a:p>
        </p:txBody>
      </p:sp>
    </p:spTree>
    <p:extLst>
      <p:ext uri="{BB962C8B-B14F-4D97-AF65-F5344CB8AC3E}">
        <p14:creationId xmlns:p14="http://schemas.microsoft.com/office/powerpoint/2010/main" val="2925594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7668D0-9364-4038-BAB9-E87618BFD5D7}"/>
              </a:ext>
            </a:extLst>
          </p:cNvPr>
          <p:cNvSpPr txBox="1"/>
          <p:nvPr/>
        </p:nvSpPr>
        <p:spPr>
          <a:xfrm>
            <a:off x="5084956" y="1271239"/>
            <a:ext cx="4092498" cy="1938992"/>
          </a:xfrm>
          <a:prstGeom prst="rect">
            <a:avLst/>
          </a:prstGeom>
          <a:noFill/>
        </p:spPr>
        <p:txBody>
          <a:bodyPr wrap="square" rtlCol="0">
            <a:spAutoFit/>
          </a:bodyPr>
          <a:lstStyle/>
          <a:p>
            <a:r>
              <a:rPr lang="en-US" dirty="0"/>
              <a:t> </a:t>
            </a:r>
            <a:r>
              <a:rPr lang="en-US" sz="6000" dirty="0">
                <a:solidFill>
                  <a:srgbClr val="00B050"/>
                </a:solidFill>
                <a:latin typeface="Arial Black" panose="020B0A04020102020204" pitchFamily="34" charset="0"/>
              </a:rPr>
              <a:t> </a:t>
            </a:r>
            <a:r>
              <a:rPr 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Project overview</a:t>
            </a:r>
            <a:endParaRPr lang="en-IN" sz="6000" dirty="0">
              <a:solidFill>
                <a:schemeClr val="accent5">
                  <a:lumMod val="50000"/>
                </a:schemeClr>
              </a:solidFill>
              <a:latin typeface="Arial Black" panose="020B0A04020102020204" pitchFamily="34" charset="0"/>
            </a:endParaRPr>
          </a:p>
        </p:txBody>
      </p:sp>
      <p:sp>
        <p:nvSpPr>
          <p:cNvPr id="4" name="TextBox 3">
            <a:extLst>
              <a:ext uri="{FF2B5EF4-FFF2-40B4-BE49-F238E27FC236}">
                <a16:creationId xmlns:a16="http://schemas.microsoft.com/office/drawing/2014/main" id="{1FD2B22E-8156-9819-1374-8C907164F066}"/>
              </a:ext>
            </a:extLst>
          </p:cNvPr>
          <p:cNvSpPr txBox="1"/>
          <p:nvPr/>
        </p:nvSpPr>
        <p:spPr>
          <a:xfrm>
            <a:off x="2019320" y="4257764"/>
            <a:ext cx="11095463" cy="1200329"/>
          </a:xfrm>
          <a:prstGeom prst="rect">
            <a:avLst/>
          </a:prstGeom>
          <a:noFill/>
        </p:spPr>
        <p:txBody>
          <a:bodyPr wrap="square" rtlCol="0">
            <a:spAutoFit/>
          </a:bodyPr>
          <a:lstStyle/>
          <a:p>
            <a:r>
              <a:rPr lang="en-US" dirty="0">
                <a:latin typeface="+mj-lt"/>
              </a:rPr>
              <a:t>This study examines the performance of City Hotel and Resort Hotel from 2015 to 2017. It focuses on areas such as operational efficiency, customer satisfaction, financial results, occupancy rates, and marketing strategies.</a:t>
            </a:r>
            <a:br>
              <a:rPr lang="en-US" dirty="0">
                <a:latin typeface="+mj-lt"/>
              </a:rPr>
            </a:br>
            <a:r>
              <a:rPr lang="en-US" dirty="0">
                <a:latin typeface="+mj-lt"/>
              </a:rPr>
              <a:t>The main goal is to identify insights that can help both hotels improve their operations, increase profitability, and achieve steady, long-term growth .</a:t>
            </a:r>
            <a:endParaRPr lang="en-IN" dirty="0">
              <a:latin typeface="+mj-lt"/>
            </a:endParaRPr>
          </a:p>
        </p:txBody>
      </p:sp>
    </p:spTree>
    <p:extLst>
      <p:ext uri="{BB962C8B-B14F-4D97-AF65-F5344CB8AC3E}">
        <p14:creationId xmlns:p14="http://schemas.microsoft.com/office/powerpoint/2010/main" val="2350659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F6001C-79C2-1D91-34FA-B9B6B6CDE0BF}"/>
              </a:ext>
            </a:extLst>
          </p:cNvPr>
          <p:cNvSpPr txBox="1"/>
          <p:nvPr/>
        </p:nvSpPr>
        <p:spPr>
          <a:xfrm>
            <a:off x="3054723" y="2350905"/>
            <a:ext cx="8329961" cy="1200329"/>
          </a:xfrm>
          <a:prstGeom prst="rect">
            <a:avLst/>
          </a:prstGeom>
          <a:noFill/>
        </p:spPr>
        <p:txBody>
          <a:bodyPr wrap="square" rtlCol="0">
            <a:spAutoFit/>
          </a:bodyPr>
          <a:lstStyle/>
          <a:p>
            <a:r>
              <a:rPr lang="en-US" sz="7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DATA ANALYSIS</a:t>
            </a:r>
            <a:endParaRPr lang="en-IN" sz="7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endParaRPr>
          </a:p>
        </p:txBody>
      </p:sp>
    </p:spTree>
    <p:extLst>
      <p:ext uri="{BB962C8B-B14F-4D97-AF65-F5344CB8AC3E}">
        <p14:creationId xmlns:p14="http://schemas.microsoft.com/office/powerpoint/2010/main" val="106865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BD2EC6-B022-94BE-E6AB-E81703F93A9E}"/>
              </a:ext>
            </a:extLst>
          </p:cNvPr>
          <p:cNvPicPr>
            <a:picLocks noChangeAspect="1"/>
          </p:cNvPicPr>
          <p:nvPr/>
        </p:nvPicPr>
        <p:blipFill>
          <a:blip r:embed="rId2"/>
          <a:stretch>
            <a:fillRect/>
          </a:stretch>
        </p:blipFill>
        <p:spPr>
          <a:xfrm>
            <a:off x="379379" y="196591"/>
            <a:ext cx="13842459" cy="7097115"/>
          </a:xfrm>
          <a:prstGeom prst="rect">
            <a:avLst/>
          </a:prstGeom>
        </p:spPr>
      </p:pic>
    </p:spTree>
    <p:extLst>
      <p:ext uri="{BB962C8B-B14F-4D97-AF65-F5344CB8AC3E}">
        <p14:creationId xmlns:p14="http://schemas.microsoft.com/office/powerpoint/2010/main" val="24889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1A368F-6EF3-B2F4-1064-29A7EE7F0A89}"/>
              </a:ext>
            </a:extLst>
          </p:cNvPr>
          <p:cNvSpPr txBox="1"/>
          <p:nvPr/>
        </p:nvSpPr>
        <p:spPr>
          <a:xfrm>
            <a:off x="3914078" y="797668"/>
            <a:ext cx="6512312" cy="2492990"/>
          </a:xfrm>
          <a:prstGeom prst="rect">
            <a:avLst/>
          </a:prstGeom>
          <a:noFill/>
        </p:spPr>
        <p:txBody>
          <a:bodyPr wrap="square" rtlCol="0">
            <a:spAutoFit/>
          </a:bodyPr>
          <a:lstStyle/>
          <a:p>
            <a:r>
              <a:rPr lang="en-I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DATA </a:t>
            </a:r>
            <a:br>
              <a:rPr lang="en-I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br>
            <a:r>
              <a:rPr lang="en-I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PREPARATION</a:t>
            </a:r>
          </a:p>
          <a:p>
            <a:br>
              <a:rPr lang="en-IN" dirty="0"/>
            </a:br>
            <a:endParaRPr lang="en-IN" dirty="0"/>
          </a:p>
        </p:txBody>
      </p:sp>
      <p:sp>
        <p:nvSpPr>
          <p:cNvPr id="5" name="TextBox 4">
            <a:extLst>
              <a:ext uri="{FF2B5EF4-FFF2-40B4-BE49-F238E27FC236}">
                <a16:creationId xmlns:a16="http://schemas.microsoft.com/office/drawing/2014/main" id="{0F1D777E-9DE8-B417-9A78-3CA8A235DC02}"/>
              </a:ext>
            </a:extLst>
          </p:cNvPr>
          <p:cNvSpPr txBox="1"/>
          <p:nvPr/>
        </p:nvSpPr>
        <p:spPr>
          <a:xfrm>
            <a:off x="1995119" y="3505225"/>
            <a:ext cx="10350230" cy="2585323"/>
          </a:xfrm>
          <a:prstGeom prst="rect">
            <a:avLst/>
          </a:prstGeom>
          <a:noFill/>
        </p:spPr>
        <p:txBody>
          <a:bodyPr wrap="square">
            <a:spAutoFit/>
          </a:bodyPr>
          <a:lstStyle/>
          <a:p>
            <a:r>
              <a:rPr lang="en-US" dirty="0"/>
              <a:t>Remove errors, Remove blank records, Removed duplicates and handled missing values. Created new columns: Booking ID, arrival date, total night stays, total persons, customer satisfaction. Removed columns: arrival date week column, company, days in waiting list. </a:t>
            </a:r>
            <a:r>
              <a:rPr lang="en-US" dirty="0" err="1"/>
              <a:t>Meargedarrival</a:t>
            </a:r>
            <a:r>
              <a:rPr lang="en-US" dirty="0"/>
              <a:t> month, arrival date, arrival year Columns into a new column arrival date (respectively). add custom column of total night </a:t>
            </a:r>
            <a:r>
              <a:rPr lang="en-US" dirty="0" err="1"/>
              <a:t>Stayes</a:t>
            </a:r>
            <a:r>
              <a:rPr lang="en-US" dirty="0"/>
              <a:t> in hotel ( addition of columns stays in weekend nights and stays in weekday nights). add custom column of total persons (adding columns adults, </a:t>
            </a:r>
            <a:r>
              <a:rPr lang="en-US" dirty="0" err="1"/>
              <a:t>childern</a:t>
            </a:r>
            <a:r>
              <a:rPr lang="en-US" dirty="0"/>
              <a:t>, babies ). remove arrival date week column. In country column replace NULL value with self- country. added conditional column of customer </a:t>
            </a:r>
            <a:r>
              <a:rPr lang="en-US" dirty="0" err="1"/>
              <a:t>satisfacttion</a:t>
            </a:r>
            <a:r>
              <a:rPr lang="en-US" dirty="0"/>
              <a:t> ( if reserved room type is equal to assigned room type). In agent column replace NULL value with Direct-booking. Remove company column because 97% values are NULL. </a:t>
            </a:r>
          </a:p>
        </p:txBody>
      </p:sp>
    </p:spTree>
    <p:extLst>
      <p:ext uri="{BB962C8B-B14F-4D97-AF65-F5344CB8AC3E}">
        <p14:creationId xmlns:p14="http://schemas.microsoft.com/office/powerpoint/2010/main" val="115490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C9F2F5-8173-42EC-5B83-78C38C9F51B7}"/>
              </a:ext>
            </a:extLst>
          </p:cNvPr>
          <p:cNvSpPr txBox="1"/>
          <p:nvPr/>
        </p:nvSpPr>
        <p:spPr>
          <a:xfrm>
            <a:off x="4186927" y="2594912"/>
            <a:ext cx="7315200" cy="2308324"/>
          </a:xfrm>
          <a:prstGeom prst="rect">
            <a:avLst/>
          </a:prstGeom>
          <a:noFill/>
        </p:spPr>
        <p:txBody>
          <a:bodyPr wrap="square" rtlCol="0">
            <a:spAutoFit/>
          </a:bodyPr>
          <a:lstStyle/>
          <a:p>
            <a:r>
              <a:rPr lang="en-IN" sz="4800" dirty="0">
                <a:solidFill>
                  <a:schemeClr val="accent5">
                    <a:lumMod val="50000"/>
                  </a:schemeClr>
                </a:solidFill>
                <a:latin typeface="Arial Black" panose="020B0A04020102020204" pitchFamily="34" charset="0"/>
              </a:rPr>
              <a:t> </a:t>
            </a:r>
            <a:r>
              <a:rPr lang="en-IN" sz="4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DATA VISUALIZATION   </a:t>
            </a:r>
            <a:br>
              <a:rPr lang="en-IN" sz="4800" dirty="0">
                <a:solidFill>
                  <a:schemeClr val="accent5">
                    <a:lumMod val="50000"/>
                  </a:schemeClr>
                </a:solidFill>
                <a:latin typeface="Arial Black" panose="020B0A04020102020204" pitchFamily="34" charset="0"/>
              </a:rPr>
            </a:br>
            <a:endParaRPr lang="en-IN" sz="4800" dirty="0">
              <a:solidFill>
                <a:schemeClr val="accent5">
                  <a:lumMod val="50000"/>
                </a:schemeClr>
              </a:solidFill>
              <a:latin typeface="Arial Black" panose="020B0A04020102020204" pitchFamily="34" charset="0"/>
            </a:endParaRPr>
          </a:p>
        </p:txBody>
      </p:sp>
    </p:spTree>
    <p:extLst>
      <p:ext uri="{BB962C8B-B14F-4D97-AF65-F5344CB8AC3E}">
        <p14:creationId xmlns:p14="http://schemas.microsoft.com/office/powerpoint/2010/main" val="3456544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F13CE8-1FD8-7795-E98A-AB60E4B2B928}"/>
              </a:ext>
            </a:extLst>
          </p:cNvPr>
          <p:cNvPicPr>
            <a:picLocks noChangeAspect="1"/>
          </p:cNvPicPr>
          <p:nvPr/>
        </p:nvPicPr>
        <p:blipFill>
          <a:blip r:embed="rId2"/>
          <a:stretch>
            <a:fillRect/>
          </a:stretch>
        </p:blipFill>
        <p:spPr>
          <a:xfrm>
            <a:off x="233464" y="223736"/>
            <a:ext cx="4776939" cy="32004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F0E51EC8-AD9C-72B3-CD82-FCDC0856D784}"/>
              </a:ext>
            </a:extLst>
          </p:cNvPr>
          <p:cNvSpPr txBox="1"/>
          <p:nvPr/>
        </p:nvSpPr>
        <p:spPr>
          <a:xfrm>
            <a:off x="6597785" y="946534"/>
            <a:ext cx="7378430" cy="1200329"/>
          </a:xfrm>
          <a:prstGeom prst="rect">
            <a:avLst/>
          </a:prstGeom>
          <a:noFill/>
        </p:spPr>
        <p:txBody>
          <a:bodyPr wrap="square">
            <a:spAutoFit/>
          </a:bodyPr>
          <a:lstStyle/>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City Hotels account for the majority of bookings with 53.42K, and Resort Hotels have 33.97K bookings. </a:t>
            </a:r>
          </a:p>
          <a:p>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City Hotels are clearly more popular compared to Resort Hotels.</a:t>
            </a:r>
            <a:endParaRPr lang="en-IN" dirty="0">
              <a:ln w="0"/>
              <a:effectLst>
                <a:outerShdw blurRad="38100" dist="19050" dir="2700000" algn="tl" rotWithShape="0">
                  <a:schemeClr val="dk1">
                    <a:alpha val="40000"/>
                  </a:schemeClr>
                </a:outerShdw>
              </a:effectLst>
            </a:endParaRPr>
          </a:p>
        </p:txBody>
      </p:sp>
      <p:pic>
        <p:nvPicPr>
          <p:cNvPr id="7" name="Picture 6">
            <a:extLst>
              <a:ext uri="{FF2B5EF4-FFF2-40B4-BE49-F238E27FC236}">
                <a16:creationId xmlns:a16="http://schemas.microsoft.com/office/drawing/2014/main" id="{001F82D9-73C9-8813-D3DC-33B31E1E3EF3}"/>
              </a:ext>
            </a:extLst>
          </p:cNvPr>
          <p:cNvPicPr>
            <a:picLocks noChangeAspect="1"/>
          </p:cNvPicPr>
          <p:nvPr/>
        </p:nvPicPr>
        <p:blipFill>
          <a:blip r:embed="rId3"/>
          <a:stretch>
            <a:fillRect/>
          </a:stretch>
        </p:blipFill>
        <p:spPr>
          <a:xfrm>
            <a:off x="233464" y="3960374"/>
            <a:ext cx="4776940" cy="331591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TextBox 8">
            <a:extLst>
              <a:ext uri="{FF2B5EF4-FFF2-40B4-BE49-F238E27FC236}">
                <a16:creationId xmlns:a16="http://schemas.microsoft.com/office/drawing/2014/main" id="{D7EAC7D8-5541-1EFB-7BDD-5A57A2386A58}"/>
              </a:ext>
            </a:extLst>
          </p:cNvPr>
          <p:cNvSpPr txBox="1"/>
          <p:nvPr/>
        </p:nvSpPr>
        <p:spPr>
          <a:xfrm>
            <a:off x="6763155" y="4456912"/>
            <a:ext cx="7417340" cy="1200329"/>
          </a:xfrm>
          <a:prstGeom prst="rect">
            <a:avLst/>
          </a:prstGeom>
          <a:noFill/>
        </p:spPr>
        <p:txBody>
          <a:bodyPr wrap="square">
            <a:spAutoFit/>
          </a:bodyPr>
          <a:lstStyle/>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City Hotels have the highest count of cancellations.</a:t>
            </a:r>
          </a:p>
          <a:p>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The cancellation rate is significantly higher for City Hotels compared to Resort Hotels.</a:t>
            </a:r>
            <a:endParaRPr lang="en-IN"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39451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20330E-F696-F29B-E6D4-281588035ED8}"/>
              </a:ext>
            </a:extLst>
          </p:cNvPr>
          <p:cNvPicPr>
            <a:picLocks noChangeAspect="1"/>
          </p:cNvPicPr>
          <p:nvPr/>
        </p:nvPicPr>
        <p:blipFill>
          <a:blip r:embed="rId2"/>
          <a:stretch>
            <a:fillRect/>
          </a:stretch>
        </p:blipFill>
        <p:spPr>
          <a:xfrm>
            <a:off x="173035" y="4182894"/>
            <a:ext cx="5371731" cy="298639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4" name="Picture 3">
            <a:extLst>
              <a:ext uri="{FF2B5EF4-FFF2-40B4-BE49-F238E27FC236}">
                <a16:creationId xmlns:a16="http://schemas.microsoft.com/office/drawing/2014/main" id="{2C819DD1-B0B1-31AB-DF4A-7DDFB7EE092C}"/>
              </a:ext>
            </a:extLst>
          </p:cNvPr>
          <p:cNvPicPr>
            <a:picLocks noChangeAspect="1"/>
          </p:cNvPicPr>
          <p:nvPr/>
        </p:nvPicPr>
        <p:blipFill>
          <a:blip r:embed="rId3"/>
          <a:stretch>
            <a:fillRect/>
          </a:stretch>
        </p:blipFill>
        <p:spPr>
          <a:xfrm>
            <a:off x="173035" y="270170"/>
            <a:ext cx="5469007" cy="342634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935CA054-7FE9-18D7-6AB0-E6503D9F2931}"/>
              </a:ext>
            </a:extLst>
          </p:cNvPr>
          <p:cNvSpPr txBox="1"/>
          <p:nvPr/>
        </p:nvSpPr>
        <p:spPr>
          <a:xfrm>
            <a:off x="6979597" y="848940"/>
            <a:ext cx="7407612" cy="2031325"/>
          </a:xfrm>
          <a:prstGeom prst="rect">
            <a:avLst/>
          </a:prstGeom>
          <a:noFill/>
        </p:spPr>
        <p:txBody>
          <a:bodyPr wrap="square">
            <a:spAutoFit/>
          </a:bodyPr>
          <a:lstStyle/>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Online TA (Travel Agency) is the dominant market segment.</a:t>
            </a:r>
          </a:p>
          <a:p>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Offline TA/TO (Tour Operator) and Direct segments are demonstrating similar performance.</a:t>
            </a:r>
          </a:p>
          <a:p>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The number of bookings from Groups, Corporate, Complementary, and Aviation segments is much lower.</a:t>
            </a:r>
            <a:endParaRPr lang="en-IN" dirty="0">
              <a:ln w="0"/>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B77C04ED-DF95-2639-40C8-D89C219CC6D6}"/>
              </a:ext>
            </a:extLst>
          </p:cNvPr>
          <p:cNvSpPr txBox="1"/>
          <p:nvPr/>
        </p:nvSpPr>
        <p:spPr>
          <a:xfrm>
            <a:off x="6979597" y="4610672"/>
            <a:ext cx="7407612" cy="1477328"/>
          </a:xfrm>
          <a:prstGeom prst="rect">
            <a:avLst/>
          </a:prstGeom>
          <a:noFill/>
        </p:spPr>
        <p:txBody>
          <a:bodyPr wrap="square">
            <a:spAutoFit/>
          </a:bodyPr>
          <a:lstStyle/>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The number of repeated guests is nearly identical for City Hotels and Resort Hotels.</a:t>
            </a:r>
          </a:p>
          <a:p>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City Hotels have a slightly higher percentage at 50.01%, while Resort Hotels contribute 49.99% of repeated guests</a:t>
            </a:r>
            <a:endParaRPr lang="en-IN"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12110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30EA38-B42F-6448-84B7-928E8C925214}"/>
              </a:ext>
            </a:extLst>
          </p:cNvPr>
          <p:cNvSpPr txBox="1"/>
          <p:nvPr/>
        </p:nvSpPr>
        <p:spPr>
          <a:xfrm>
            <a:off x="2324910" y="489534"/>
            <a:ext cx="9669293" cy="1477328"/>
          </a:xfrm>
          <a:prstGeom prst="rect">
            <a:avLst/>
          </a:prstGeom>
          <a:noFill/>
        </p:spPr>
        <p:txBody>
          <a:bodyPr wrap="square" rtlCol="0">
            <a:spAutoFit/>
          </a:bodyPr>
          <a:lstStyle/>
          <a:p>
            <a:pPr algn="ctr"/>
            <a:r>
              <a:rPr lang="en-IN"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EXPECTED OUTCOMES</a:t>
            </a:r>
          </a:p>
          <a:p>
            <a:pPr algn="ctr"/>
            <a:br>
              <a:rPr lang="en-IN" dirty="0"/>
            </a:br>
            <a:endParaRPr lang="en-IN" dirty="0"/>
          </a:p>
        </p:txBody>
      </p:sp>
      <p:graphicFrame>
        <p:nvGraphicFramePr>
          <p:cNvPr id="9" name="Content Placeholder 2">
            <a:extLst>
              <a:ext uri="{FF2B5EF4-FFF2-40B4-BE49-F238E27FC236}">
                <a16:creationId xmlns:a16="http://schemas.microsoft.com/office/drawing/2014/main" id="{C8ED7B0A-6625-AE66-1D02-5225C19B0041}"/>
              </a:ext>
            </a:extLst>
          </p:cNvPr>
          <p:cNvGraphicFramePr>
            <a:graphicFrameLocks/>
          </p:cNvGraphicFramePr>
          <p:nvPr>
            <p:extLst>
              <p:ext uri="{D42A27DB-BD31-4B8C-83A1-F6EECF244321}">
                <p14:modId xmlns:p14="http://schemas.microsoft.com/office/powerpoint/2010/main" val="3194900145"/>
              </p:ext>
            </p:extLst>
          </p:nvPr>
        </p:nvGraphicFramePr>
        <p:xfrm>
          <a:off x="1189355" y="2232092"/>
          <a:ext cx="10982131" cy="4259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423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801409" y="848678"/>
            <a:ext cx="7556421" cy="1417558"/>
          </a:xfrm>
          <a:prstGeom prst="rect">
            <a:avLst/>
          </a:prstGeom>
          <a:noFill/>
          <a:ln/>
        </p:spPr>
        <p:txBody>
          <a:bodyPr wrap="square" lIns="0" tIns="0" rIns="0" bIns="0" rtlCol="0" anchor="t"/>
          <a:lstStyle/>
          <a:p>
            <a:pPr marL="0" indent="0" algn="l">
              <a:lnSpc>
                <a:spcPts val="5550"/>
              </a:lnSpc>
              <a:buNone/>
            </a:pPr>
            <a:r>
              <a:rPr lang="en-US" sz="445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Noto Serif SC Bold" pitchFamily="34" charset="0"/>
                <a:ea typeface="Noto Serif SC Bold" pitchFamily="34" charset="-122"/>
                <a:cs typeface="Noto Serif SC Bold" pitchFamily="34" charset="-120"/>
              </a:rPr>
              <a:t>Dataset Overview &amp; Key Fields</a:t>
            </a:r>
            <a:endParaRPr lang="en-US" sz="445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4" name="Text 1"/>
          <p:cNvSpPr/>
          <p:nvPr/>
        </p:nvSpPr>
        <p:spPr>
          <a:xfrm>
            <a:off x="793790" y="3077051"/>
            <a:ext cx="3501509" cy="725805"/>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Primary key</a:t>
            </a:r>
            <a:r>
              <a:rPr lang="en-US" sz="1750" dirty="0">
                <a:solidFill>
                  <a:srgbClr val="4B4A4A"/>
                </a:solidFill>
                <a:latin typeface="Geist" pitchFamily="34" charset="0"/>
                <a:ea typeface="Geist" pitchFamily="34" charset="-122"/>
                <a:cs typeface="Geist" pitchFamily="34" charset="-120"/>
              </a:rPr>
              <a:t>: BOOKING_ID (unique record identifier)</a:t>
            </a:r>
            <a:endParaRPr lang="en-US" sz="1750" dirty="0"/>
          </a:p>
        </p:txBody>
      </p:sp>
      <p:sp>
        <p:nvSpPr>
          <p:cNvPr id="5" name="Text 2"/>
          <p:cNvSpPr/>
          <p:nvPr/>
        </p:nvSpPr>
        <p:spPr>
          <a:xfrm>
            <a:off x="793790" y="4006929"/>
            <a:ext cx="3501509" cy="1088708"/>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Booking context</a:t>
            </a:r>
            <a:r>
              <a:rPr lang="en-US" sz="1750" dirty="0">
                <a:solidFill>
                  <a:srgbClr val="4B4A4A"/>
                </a:solidFill>
                <a:latin typeface="Geist" pitchFamily="34" charset="0"/>
                <a:ea typeface="Geist" pitchFamily="34" charset="-122"/>
                <a:cs typeface="Geist" pitchFamily="34" charset="-120"/>
              </a:rPr>
              <a:t>: HOTEL_TYPE, MARKET_SEGMENT, DISTRIBUTION_CHANNEL</a:t>
            </a:r>
            <a:endParaRPr lang="en-US" sz="1750" dirty="0"/>
          </a:p>
        </p:txBody>
      </p:sp>
      <p:sp>
        <p:nvSpPr>
          <p:cNvPr id="6" name="Text 3"/>
          <p:cNvSpPr/>
          <p:nvPr/>
        </p:nvSpPr>
        <p:spPr>
          <a:xfrm>
            <a:off x="793790" y="5299710"/>
            <a:ext cx="3501509" cy="1088708"/>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Guest composition</a:t>
            </a:r>
            <a:r>
              <a:rPr lang="en-US" sz="1750" dirty="0">
                <a:solidFill>
                  <a:srgbClr val="4B4A4A"/>
                </a:solidFill>
                <a:latin typeface="Geist" pitchFamily="34" charset="0"/>
                <a:ea typeface="Geist" pitchFamily="34" charset="-122"/>
                <a:cs typeface="Geist" pitchFamily="34" charset="-120"/>
              </a:rPr>
              <a:t>: ADULTS, CHILDREN, BABIES, TOTAL_PERSONS</a:t>
            </a:r>
            <a:endParaRPr lang="en-US" sz="1750" dirty="0"/>
          </a:p>
        </p:txBody>
      </p:sp>
      <p:sp>
        <p:nvSpPr>
          <p:cNvPr id="7" name="Text 4"/>
          <p:cNvSpPr/>
          <p:nvPr/>
        </p:nvSpPr>
        <p:spPr>
          <a:xfrm>
            <a:off x="4856321" y="3077051"/>
            <a:ext cx="3501509" cy="1814513"/>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Timing &amp; stay</a:t>
            </a:r>
            <a:r>
              <a:rPr lang="en-US" sz="1750" dirty="0">
                <a:solidFill>
                  <a:srgbClr val="4B4A4A"/>
                </a:solidFill>
                <a:latin typeface="Geist" pitchFamily="34" charset="0"/>
                <a:ea typeface="Geist" pitchFamily="34" charset="-122"/>
                <a:cs typeface="Geist" pitchFamily="34" charset="-120"/>
              </a:rPr>
              <a:t>: LEAD_TIME (hours), BOOKING_DATE, ARRIVAL_DATE, TOTAL_NIGHT_STAYS, STAYS_IN_WEEKEND_NIGHTS</a:t>
            </a:r>
            <a:endParaRPr lang="en-US" sz="1750" dirty="0"/>
          </a:p>
        </p:txBody>
      </p:sp>
      <p:sp>
        <p:nvSpPr>
          <p:cNvPr id="8" name="Text 5"/>
          <p:cNvSpPr/>
          <p:nvPr/>
        </p:nvSpPr>
        <p:spPr>
          <a:xfrm>
            <a:off x="4856321" y="5095637"/>
            <a:ext cx="3501509" cy="1814513"/>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Reservation state</a:t>
            </a:r>
            <a:r>
              <a:rPr lang="en-US" sz="1750" dirty="0">
                <a:solidFill>
                  <a:srgbClr val="4B4A4A"/>
                </a:solidFill>
                <a:latin typeface="Geist" pitchFamily="34" charset="0"/>
                <a:ea typeface="Geist" pitchFamily="34" charset="-122"/>
                <a:cs typeface="Geist" pitchFamily="34" charset="-120"/>
              </a:rPr>
              <a:t>: IS_CANCELLATION, PREVIOUS_CANCELLATION, RESERVATION_STATUS, RESERVATION_STATUS_DATE</a:t>
            </a:r>
            <a:endParaRPr lang="en-US" sz="1750" dirty="0"/>
          </a:p>
        </p:txBody>
      </p:sp>
      <p:pic>
        <p:nvPicPr>
          <p:cNvPr id="10" name="Picture 9">
            <a:extLst>
              <a:ext uri="{FF2B5EF4-FFF2-40B4-BE49-F238E27FC236}">
                <a16:creationId xmlns:a16="http://schemas.microsoft.com/office/drawing/2014/main" id="{FB1646ED-3458-AB80-0719-3AEC03672807}"/>
              </a:ext>
            </a:extLst>
          </p:cNvPr>
          <p:cNvPicPr>
            <a:picLocks noChangeAspect="1"/>
          </p:cNvPicPr>
          <p:nvPr/>
        </p:nvPicPr>
        <p:blipFill>
          <a:blip r:embed="rId3"/>
          <a:stretch>
            <a:fillRect/>
          </a:stretch>
        </p:blipFill>
        <p:spPr>
          <a:xfrm>
            <a:off x="9319097" y="397081"/>
            <a:ext cx="4951379" cy="535994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135172" y="509707"/>
            <a:ext cx="7846457" cy="1158478"/>
          </a:xfrm>
          <a:prstGeom prst="rect">
            <a:avLst/>
          </a:prstGeom>
          <a:noFill/>
          <a:ln/>
        </p:spPr>
        <p:txBody>
          <a:bodyPr wrap="square" lIns="0" tIns="0" rIns="0" bIns="0" rtlCol="0" anchor="t"/>
          <a:lstStyle/>
          <a:p>
            <a:pPr marL="0" indent="0" algn="l">
              <a:lnSpc>
                <a:spcPts val="4550"/>
              </a:lnSpc>
              <a:buNone/>
            </a:pPr>
            <a:r>
              <a:rPr lang="en-US" sz="360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Noto Serif SC Bold" pitchFamily="34" charset="0"/>
                <a:ea typeface="Noto Serif SC Bold" pitchFamily="34" charset="-122"/>
                <a:cs typeface="Noto Serif SC Bold" pitchFamily="34" charset="-120"/>
              </a:rPr>
              <a:t>Data Quality Checklist — What to inspect first</a:t>
            </a:r>
            <a:endParaRPr lang="en-US" sz="360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4" name="Shape 1"/>
          <p:cNvSpPr/>
          <p:nvPr/>
        </p:nvSpPr>
        <p:spPr>
          <a:xfrm>
            <a:off x="6135172" y="1946196"/>
            <a:ext cx="7846457" cy="1083112"/>
          </a:xfrm>
          <a:prstGeom prst="roundRect">
            <a:avLst>
              <a:gd name="adj" fmla="val 15404"/>
            </a:avLst>
          </a:prstGeom>
          <a:solidFill>
            <a:srgbClr val="D1EFE4"/>
          </a:solidFill>
          <a:ln w="7620">
            <a:solidFill>
              <a:srgbClr val="B7D5CA"/>
            </a:solidFill>
            <a:prstDash val="solid"/>
          </a:ln>
        </p:spPr>
      </p:sp>
      <p:sp>
        <p:nvSpPr>
          <p:cNvPr id="5" name="Text 2"/>
          <p:cNvSpPr/>
          <p:nvPr/>
        </p:nvSpPr>
        <p:spPr>
          <a:xfrm>
            <a:off x="6328053" y="2139077"/>
            <a:ext cx="2317194" cy="289560"/>
          </a:xfrm>
          <a:prstGeom prst="rect">
            <a:avLst/>
          </a:prstGeom>
          <a:noFill/>
          <a:ln/>
        </p:spPr>
        <p:txBody>
          <a:bodyPr wrap="non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Uniqueness</a:t>
            </a:r>
            <a:endParaRPr lang="en-US" sz="1800" dirty="0"/>
          </a:p>
        </p:txBody>
      </p:sp>
      <p:sp>
        <p:nvSpPr>
          <p:cNvPr id="6" name="Text 3"/>
          <p:cNvSpPr/>
          <p:nvPr/>
        </p:nvSpPr>
        <p:spPr>
          <a:xfrm>
            <a:off x="6328053" y="2539841"/>
            <a:ext cx="7460694" cy="296585"/>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4B4A4A"/>
                </a:solidFill>
                <a:latin typeface="Geist" pitchFamily="34" charset="0"/>
                <a:ea typeface="Geist" pitchFamily="34" charset="-122"/>
                <a:cs typeface="Geist" pitchFamily="34" charset="-120"/>
              </a:rPr>
              <a:t>Verify BOOKING_ID is unique. Flag duplicates and create incident log.</a:t>
            </a:r>
            <a:endParaRPr lang="en-US" sz="1450" dirty="0"/>
          </a:p>
        </p:txBody>
      </p:sp>
      <p:sp>
        <p:nvSpPr>
          <p:cNvPr id="7" name="Shape 4"/>
          <p:cNvSpPr/>
          <p:nvPr/>
        </p:nvSpPr>
        <p:spPr>
          <a:xfrm>
            <a:off x="6135172" y="3214568"/>
            <a:ext cx="7846457" cy="1379696"/>
          </a:xfrm>
          <a:prstGeom prst="roundRect">
            <a:avLst>
              <a:gd name="adj" fmla="val 12093"/>
            </a:avLst>
          </a:prstGeom>
          <a:solidFill>
            <a:srgbClr val="D1EFE4"/>
          </a:solidFill>
          <a:ln w="7620">
            <a:solidFill>
              <a:srgbClr val="B7D5CA"/>
            </a:solidFill>
            <a:prstDash val="solid"/>
          </a:ln>
        </p:spPr>
      </p:sp>
      <p:sp>
        <p:nvSpPr>
          <p:cNvPr id="8" name="Text 5"/>
          <p:cNvSpPr/>
          <p:nvPr/>
        </p:nvSpPr>
        <p:spPr>
          <a:xfrm>
            <a:off x="6328053" y="3407450"/>
            <a:ext cx="2317194" cy="289560"/>
          </a:xfrm>
          <a:prstGeom prst="rect">
            <a:avLst/>
          </a:prstGeom>
          <a:noFill/>
          <a:ln/>
        </p:spPr>
        <p:txBody>
          <a:bodyPr wrap="non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Completeness</a:t>
            </a:r>
            <a:endParaRPr lang="en-US" sz="1800" dirty="0"/>
          </a:p>
        </p:txBody>
      </p:sp>
      <p:sp>
        <p:nvSpPr>
          <p:cNvPr id="9" name="Text 6"/>
          <p:cNvSpPr/>
          <p:nvPr/>
        </p:nvSpPr>
        <p:spPr>
          <a:xfrm>
            <a:off x="6328053" y="3808214"/>
            <a:ext cx="7460694" cy="593169"/>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4B4A4A"/>
                </a:solidFill>
                <a:latin typeface="Geist" pitchFamily="34" charset="0"/>
                <a:ea typeface="Geist" pitchFamily="34" charset="-122"/>
                <a:cs typeface="Geist" pitchFamily="34" charset="-120"/>
              </a:rPr>
              <a:t>Null rates for essential fields: ARRIVAL_DATE, TOTAL_NIGHT_STAYS, ADR, HOTEL_TYPE.</a:t>
            </a:r>
            <a:endParaRPr lang="en-US" sz="1450" dirty="0"/>
          </a:p>
        </p:txBody>
      </p:sp>
      <p:sp>
        <p:nvSpPr>
          <p:cNvPr id="10" name="Shape 7"/>
          <p:cNvSpPr/>
          <p:nvPr/>
        </p:nvSpPr>
        <p:spPr>
          <a:xfrm>
            <a:off x="6135172" y="4779526"/>
            <a:ext cx="7846457" cy="1379696"/>
          </a:xfrm>
          <a:prstGeom prst="roundRect">
            <a:avLst>
              <a:gd name="adj" fmla="val 12093"/>
            </a:avLst>
          </a:prstGeom>
          <a:solidFill>
            <a:srgbClr val="D1EFE4"/>
          </a:solidFill>
          <a:ln w="7620">
            <a:solidFill>
              <a:srgbClr val="B7D5CA"/>
            </a:solidFill>
            <a:prstDash val="solid"/>
          </a:ln>
        </p:spPr>
      </p:sp>
      <p:sp>
        <p:nvSpPr>
          <p:cNvPr id="11" name="Text 8"/>
          <p:cNvSpPr/>
          <p:nvPr/>
        </p:nvSpPr>
        <p:spPr>
          <a:xfrm>
            <a:off x="6328053" y="4972407"/>
            <a:ext cx="2317194" cy="289560"/>
          </a:xfrm>
          <a:prstGeom prst="rect">
            <a:avLst/>
          </a:prstGeom>
          <a:noFill/>
          <a:ln/>
        </p:spPr>
        <p:txBody>
          <a:bodyPr wrap="non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Validity &amp; Types</a:t>
            </a:r>
            <a:endParaRPr lang="en-US" sz="1800" dirty="0"/>
          </a:p>
        </p:txBody>
      </p:sp>
      <p:sp>
        <p:nvSpPr>
          <p:cNvPr id="12" name="Text 9"/>
          <p:cNvSpPr/>
          <p:nvPr/>
        </p:nvSpPr>
        <p:spPr>
          <a:xfrm>
            <a:off x="6328053" y="5373172"/>
            <a:ext cx="7460694" cy="593169"/>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4B4A4A"/>
                </a:solidFill>
                <a:latin typeface="Geist" pitchFamily="34" charset="0"/>
                <a:ea typeface="Geist" pitchFamily="34" charset="-122"/>
                <a:cs typeface="Geist" pitchFamily="34" charset="-120"/>
              </a:rPr>
              <a:t>Ensure numeric fields (ADULTS, CHILDREN, LEAD_TIME, ADR) are numeric and within realistic ranges.</a:t>
            </a:r>
            <a:endParaRPr lang="en-US" sz="1450" dirty="0"/>
          </a:p>
        </p:txBody>
      </p:sp>
      <p:sp>
        <p:nvSpPr>
          <p:cNvPr id="13" name="Shape 10"/>
          <p:cNvSpPr/>
          <p:nvPr/>
        </p:nvSpPr>
        <p:spPr>
          <a:xfrm>
            <a:off x="6135172" y="6344483"/>
            <a:ext cx="7846457" cy="1379696"/>
          </a:xfrm>
          <a:prstGeom prst="roundRect">
            <a:avLst>
              <a:gd name="adj" fmla="val 12093"/>
            </a:avLst>
          </a:prstGeom>
          <a:solidFill>
            <a:srgbClr val="D1EFE4"/>
          </a:solidFill>
          <a:ln w="7620">
            <a:solidFill>
              <a:srgbClr val="B7D5CA"/>
            </a:solidFill>
            <a:prstDash val="solid"/>
          </a:ln>
        </p:spPr>
      </p:sp>
      <p:sp>
        <p:nvSpPr>
          <p:cNvPr id="14" name="Text 11"/>
          <p:cNvSpPr/>
          <p:nvPr/>
        </p:nvSpPr>
        <p:spPr>
          <a:xfrm>
            <a:off x="6328053" y="6537365"/>
            <a:ext cx="2317194" cy="289560"/>
          </a:xfrm>
          <a:prstGeom prst="rect">
            <a:avLst/>
          </a:prstGeom>
          <a:noFill/>
          <a:ln/>
        </p:spPr>
        <p:txBody>
          <a:bodyPr wrap="non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Consistency</a:t>
            </a:r>
            <a:endParaRPr lang="en-US" sz="1800" dirty="0"/>
          </a:p>
        </p:txBody>
      </p:sp>
      <p:sp>
        <p:nvSpPr>
          <p:cNvPr id="15" name="Text 12"/>
          <p:cNvSpPr/>
          <p:nvPr/>
        </p:nvSpPr>
        <p:spPr>
          <a:xfrm>
            <a:off x="6328053" y="6938129"/>
            <a:ext cx="7460694" cy="593169"/>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4B4A4A"/>
                </a:solidFill>
                <a:latin typeface="Geist" pitchFamily="34" charset="0"/>
                <a:ea typeface="Geist" pitchFamily="34" charset="-122"/>
                <a:cs typeface="Geist" pitchFamily="34" charset="-120"/>
              </a:rPr>
              <a:t>Matching RESERVED_ROOM_TYPE vs ASSIGNED_ROOM_TYPE codes; consistent MARKET_SEGMENT labels.</a:t>
            </a:r>
            <a:endParaRPr lang="en-US" sz="1450" dirty="0"/>
          </a:p>
        </p:txBody>
      </p:sp>
      <p:pic>
        <p:nvPicPr>
          <p:cNvPr id="17" name="Picture 16">
            <a:extLst>
              <a:ext uri="{FF2B5EF4-FFF2-40B4-BE49-F238E27FC236}">
                <a16:creationId xmlns:a16="http://schemas.microsoft.com/office/drawing/2014/main" id="{7AB45891-6641-2AF0-1BA7-D5F96ECD4D25}"/>
              </a:ext>
            </a:extLst>
          </p:cNvPr>
          <p:cNvPicPr>
            <a:picLocks noChangeAspect="1"/>
          </p:cNvPicPr>
          <p:nvPr/>
        </p:nvPicPr>
        <p:blipFill>
          <a:blip r:embed="rId3"/>
          <a:stretch>
            <a:fillRect/>
          </a:stretch>
        </p:blipFill>
        <p:spPr>
          <a:xfrm>
            <a:off x="194553" y="-364668"/>
            <a:ext cx="5379396" cy="655875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161603" y="741521"/>
            <a:ext cx="7301151" cy="602813"/>
          </a:xfrm>
          <a:prstGeom prst="rect">
            <a:avLst/>
          </a:prstGeom>
          <a:noFill/>
          <a:ln/>
        </p:spPr>
        <p:txBody>
          <a:bodyPr wrap="none" lIns="0" tIns="0" rIns="0" bIns="0" rtlCol="0" anchor="t"/>
          <a:lstStyle/>
          <a:p>
            <a:pPr marL="0" indent="0" algn="l">
              <a:lnSpc>
                <a:spcPts val="4700"/>
              </a:lnSpc>
              <a:buNone/>
            </a:pPr>
            <a:r>
              <a:rPr lang="en-US" sz="375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Noto Serif SC Bold" pitchFamily="34" charset="0"/>
                <a:ea typeface="Noto Serif SC Bold" pitchFamily="34" charset="-122"/>
                <a:cs typeface="Noto Serif SC Bold" pitchFamily="34" charset="-120"/>
              </a:rPr>
              <a:t>Key KPIs for Hotel Operations</a:t>
            </a:r>
            <a:endParaRPr lang="en-US" sz="375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4" name="Text 1"/>
          <p:cNvSpPr/>
          <p:nvPr/>
        </p:nvSpPr>
        <p:spPr>
          <a:xfrm>
            <a:off x="6161603" y="1730097"/>
            <a:ext cx="2437090" cy="636627"/>
          </a:xfrm>
          <a:prstGeom prst="rect">
            <a:avLst/>
          </a:prstGeom>
          <a:noFill/>
          <a:ln/>
        </p:spPr>
        <p:txBody>
          <a:bodyPr wrap="none" lIns="0" tIns="0" rIns="0" bIns="0" rtlCol="0" anchor="t"/>
          <a:lstStyle/>
          <a:p>
            <a:pPr marL="0" indent="0" algn="ctr">
              <a:lnSpc>
                <a:spcPts val="5000"/>
              </a:lnSpc>
              <a:buNone/>
            </a:pPr>
            <a:r>
              <a:rPr lang="en-US" sz="5000" b="1" dirty="0">
                <a:solidFill>
                  <a:srgbClr val="4B4A4A"/>
                </a:solidFill>
                <a:latin typeface="Noto Serif SC Bold" pitchFamily="34" charset="0"/>
                <a:ea typeface="Noto Serif SC Bold" pitchFamily="34" charset="-122"/>
                <a:cs typeface="Noto Serif SC Bold" pitchFamily="34" charset="-120"/>
              </a:rPr>
              <a:t>80%</a:t>
            </a:r>
            <a:endParaRPr lang="en-US" sz="5000" dirty="0"/>
          </a:p>
        </p:txBody>
      </p:sp>
      <p:sp>
        <p:nvSpPr>
          <p:cNvPr id="5" name="Text 2"/>
          <p:cNvSpPr/>
          <p:nvPr/>
        </p:nvSpPr>
        <p:spPr>
          <a:xfrm>
            <a:off x="6174343" y="2607826"/>
            <a:ext cx="2411611" cy="301466"/>
          </a:xfrm>
          <a:prstGeom prst="rect">
            <a:avLst/>
          </a:prstGeom>
          <a:noFill/>
          <a:ln/>
        </p:spPr>
        <p:txBody>
          <a:bodyPr wrap="none" lIns="0" tIns="0" rIns="0" bIns="0" rtlCol="0" anchor="t"/>
          <a:lstStyle/>
          <a:p>
            <a:pPr marL="0" indent="0" algn="ctr">
              <a:lnSpc>
                <a:spcPts val="2350"/>
              </a:lnSpc>
              <a:buNone/>
            </a:pPr>
            <a:r>
              <a:rPr lang="en-US" sz="1850" b="1" dirty="0">
                <a:solidFill>
                  <a:srgbClr val="4B4A4A"/>
                </a:solidFill>
                <a:latin typeface="Noto Serif SC Bold" pitchFamily="34" charset="0"/>
                <a:ea typeface="Noto Serif SC Bold" pitchFamily="34" charset="-122"/>
                <a:cs typeface="Noto Serif SC Bold" pitchFamily="34" charset="-120"/>
              </a:rPr>
              <a:t>Occupancy Rate</a:t>
            </a:r>
            <a:endParaRPr lang="en-US" sz="1850" dirty="0"/>
          </a:p>
        </p:txBody>
      </p:sp>
      <p:sp>
        <p:nvSpPr>
          <p:cNvPr id="6" name="Text 3"/>
          <p:cNvSpPr/>
          <p:nvPr/>
        </p:nvSpPr>
        <p:spPr>
          <a:xfrm>
            <a:off x="6161603" y="3025021"/>
            <a:ext cx="2437090" cy="617220"/>
          </a:xfrm>
          <a:prstGeom prst="rect">
            <a:avLst/>
          </a:prstGeom>
          <a:noFill/>
          <a:ln/>
        </p:spPr>
        <p:txBody>
          <a:bodyPr wrap="square" lIns="0" tIns="0" rIns="0" bIns="0" rtlCol="0" anchor="t"/>
          <a:lstStyle/>
          <a:p>
            <a:pPr marL="0" indent="0" algn="ctr">
              <a:lnSpc>
                <a:spcPts val="2400"/>
              </a:lnSpc>
              <a:buNone/>
            </a:pPr>
            <a:r>
              <a:rPr lang="en-US" sz="1500" dirty="0">
                <a:solidFill>
                  <a:srgbClr val="4B4A4A"/>
                </a:solidFill>
                <a:latin typeface="Geist" pitchFamily="34" charset="0"/>
                <a:ea typeface="Geist" pitchFamily="34" charset="-122"/>
                <a:cs typeface="Geist" pitchFamily="34" charset="-120"/>
              </a:rPr>
              <a:t>Rooms sold / rooms available (by date).</a:t>
            </a:r>
            <a:endParaRPr lang="en-US" sz="1500" dirty="0"/>
          </a:p>
        </p:txBody>
      </p:sp>
      <p:sp>
        <p:nvSpPr>
          <p:cNvPr id="7" name="Text 4"/>
          <p:cNvSpPr/>
          <p:nvPr/>
        </p:nvSpPr>
        <p:spPr>
          <a:xfrm>
            <a:off x="8839795" y="1730097"/>
            <a:ext cx="2437090" cy="636627"/>
          </a:xfrm>
          <a:prstGeom prst="rect">
            <a:avLst/>
          </a:prstGeom>
          <a:noFill/>
          <a:ln/>
        </p:spPr>
        <p:txBody>
          <a:bodyPr wrap="none" lIns="0" tIns="0" rIns="0" bIns="0" rtlCol="0" anchor="t"/>
          <a:lstStyle/>
          <a:p>
            <a:pPr marL="0" indent="0" algn="ctr">
              <a:lnSpc>
                <a:spcPts val="5000"/>
              </a:lnSpc>
              <a:buNone/>
            </a:pPr>
            <a:r>
              <a:rPr lang="en-US" sz="5000" b="1" dirty="0">
                <a:solidFill>
                  <a:srgbClr val="4B4A4A"/>
                </a:solidFill>
                <a:latin typeface="Noto Serif SC Bold" pitchFamily="34" charset="0"/>
                <a:ea typeface="Noto Serif SC Bold" pitchFamily="34" charset="-122"/>
                <a:cs typeface="Noto Serif SC Bold" pitchFamily="34" charset="-120"/>
              </a:rPr>
              <a:t>$120</a:t>
            </a:r>
            <a:endParaRPr lang="en-US" sz="5000" dirty="0"/>
          </a:p>
        </p:txBody>
      </p:sp>
      <p:sp>
        <p:nvSpPr>
          <p:cNvPr id="8" name="Text 5"/>
          <p:cNvSpPr/>
          <p:nvPr/>
        </p:nvSpPr>
        <p:spPr>
          <a:xfrm>
            <a:off x="8852535" y="2607826"/>
            <a:ext cx="2411611" cy="301466"/>
          </a:xfrm>
          <a:prstGeom prst="rect">
            <a:avLst/>
          </a:prstGeom>
          <a:noFill/>
          <a:ln/>
        </p:spPr>
        <p:txBody>
          <a:bodyPr wrap="none" lIns="0" tIns="0" rIns="0" bIns="0" rtlCol="0" anchor="t"/>
          <a:lstStyle/>
          <a:p>
            <a:pPr marL="0" indent="0" algn="ctr">
              <a:lnSpc>
                <a:spcPts val="2350"/>
              </a:lnSpc>
              <a:buNone/>
            </a:pPr>
            <a:r>
              <a:rPr lang="en-US" sz="1850" b="1" dirty="0">
                <a:solidFill>
                  <a:srgbClr val="4B4A4A"/>
                </a:solidFill>
                <a:latin typeface="Noto Serif SC Bold" pitchFamily="34" charset="0"/>
                <a:ea typeface="Noto Serif SC Bold" pitchFamily="34" charset="-122"/>
                <a:cs typeface="Noto Serif SC Bold" pitchFamily="34" charset="-120"/>
              </a:rPr>
              <a:t>ADR</a:t>
            </a:r>
            <a:endParaRPr lang="en-US" sz="1850" dirty="0"/>
          </a:p>
        </p:txBody>
      </p:sp>
      <p:sp>
        <p:nvSpPr>
          <p:cNvPr id="9" name="Text 6"/>
          <p:cNvSpPr/>
          <p:nvPr/>
        </p:nvSpPr>
        <p:spPr>
          <a:xfrm>
            <a:off x="8839795" y="3025021"/>
            <a:ext cx="2437090" cy="925830"/>
          </a:xfrm>
          <a:prstGeom prst="rect">
            <a:avLst/>
          </a:prstGeom>
          <a:noFill/>
          <a:ln/>
        </p:spPr>
        <p:txBody>
          <a:bodyPr wrap="square" lIns="0" tIns="0" rIns="0" bIns="0" rtlCol="0" anchor="t"/>
          <a:lstStyle/>
          <a:p>
            <a:pPr marL="0" indent="0" algn="ctr">
              <a:lnSpc>
                <a:spcPts val="2400"/>
              </a:lnSpc>
              <a:buNone/>
            </a:pPr>
            <a:r>
              <a:rPr lang="en-US" sz="1500" dirty="0">
                <a:solidFill>
                  <a:srgbClr val="4B4A4A"/>
                </a:solidFill>
                <a:latin typeface="Geist" pitchFamily="34" charset="0"/>
                <a:ea typeface="Geist" pitchFamily="34" charset="-122"/>
                <a:cs typeface="Geist" pitchFamily="34" charset="-120"/>
              </a:rPr>
              <a:t>Average daily rate per occupied room (cleaned &amp; trimmed).</a:t>
            </a:r>
            <a:endParaRPr lang="en-US" sz="1500" dirty="0"/>
          </a:p>
        </p:txBody>
      </p:sp>
      <p:sp>
        <p:nvSpPr>
          <p:cNvPr id="10" name="Text 7"/>
          <p:cNvSpPr/>
          <p:nvPr/>
        </p:nvSpPr>
        <p:spPr>
          <a:xfrm>
            <a:off x="11517987" y="1730097"/>
            <a:ext cx="2437090" cy="636627"/>
          </a:xfrm>
          <a:prstGeom prst="rect">
            <a:avLst/>
          </a:prstGeom>
          <a:noFill/>
          <a:ln/>
        </p:spPr>
        <p:txBody>
          <a:bodyPr wrap="none" lIns="0" tIns="0" rIns="0" bIns="0" rtlCol="0" anchor="t"/>
          <a:lstStyle/>
          <a:p>
            <a:pPr marL="0" indent="0" algn="ctr">
              <a:lnSpc>
                <a:spcPts val="5000"/>
              </a:lnSpc>
              <a:buNone/>
            </a:pPr>
            <a:r>
              <a:rPr lang="en-US" sz="5000" b="1" dirty="0">
                <a:solidFill>
                  <a:srgbClr val="4B4A4A"/>
                </a:solidFill>
                <a:latin typeface="Noto Serif SC Bold" pitchFamily="34" charset="0"/>
                <a:ea typeface="Noto Serif SC Bold" pitchFamily="34" charset="-122"/>
                <a:cs typeface="Noto Serif SC Bold" pitchFamily="34" charset="-120"/>
              </a:rPr>
              <a:t>$96</a:t>
            </a:r>
            <a:endParaRPr lang="en-US" sz="5000" dirty="0"/>
          </a:p>
        </p:txBody>
      </p:sp>
      <p:sp>
        <p:nvSpPr>
          <p:cNvPr id="11" name="Text 8"/>
          <p:cNvSpPr/>
          <p:nvPr/>
        </p:nvSpPr>
        <p:spPr>
          <a:xfrm>
            <a:off x="11530727" y="2607826"/>
            <a:ext cx="2411611" cy="301466"/>
          </a:xfrm>
          <a:prstGeom prst="rect">
            <a:avLst/>
          </a:prstGeom>
          <a:noFill/>
          <a:ln/>
        </p:spPr>
        <p:txBody>
          <a:bodyPr wrap="none" lIns="0" tIns="0" rIns="0" bIns="0" rtlCol="0" anchor="t"/>
          <a:lstStyle/>
          <a:p>
            <a:pPr marL="0" indent="0" algn="ctr">
              <a:lnSpc>
                <a:spcPts val="2350"/>
              </a:lnSpc>
              <a:buNone/>
            </a:pPr>
            <a:r>
              <a:rPr lang="en-US" sz="1850" b="1" dirty="0">
                <a:solidFill>
                  <a:srgbClr val="4B4A4A"/>
                </a:solidFill>
                <a:latin typeface="Noto Serif SC Bold" pitchFamily="34" charset="0"/>
                <a:ea typeface="Noto Serif SC Bold" pitchFamily="34" charset="-122"/>
                <a:cs typeface="Noto Serif SC Bold" pitchFamily="34" charset="-120"/>
              </a:rPr>
              <a:t>RevPAR</a:t>
            </a:r>
            <a:endParaRPr lang="en-US" sz="1850" dirty="0"/>
          </a:p>
        </p:txBody>
      </p:sp>
      <p:sp>
        <p:nvSpPr>
          <p:cNvPr id="12" name="Text 9"/>
          <p:cNvSpPr/>
          <p:nvPr/>
        </p:nvSpPr>
        <p:spPr>
          <a:xfrm>
            <a:off x="11517987" y="3025021"/>
            <a:ext cx="2437090" cy="617220"/>
          </a:xfrm>
          <a:prstGeom prst="rect">
            <a:avLst/>
          </a:prstGeom>
          <a:noFill/>
          <a:ln/>
        </p:spPr>
        <p:txBody>
          <a:bodyPr wrap="square" lIns="0" tIns="0" rIns="0" bIns="0" rtlCol="0" anchor="t"/>
          <a:lstStyle/>
          <a:p>
            <a:pPr marL="0" indent="0" algn="ctr">
              <a:lnSpc>
                <a:spcPts val="2400"/>
              </a:lnSpc>
              <a:buNone/>
            </a:pPr>
            <a:r>
              <a:rPr lang="en-US" sz="1500" dirty="0">
                <a:solidFill>
                  <a:srgbClr val="4B4A4A"/>
                </a:solidFill>
                <a:latin typeface="Geist" pitchFamily="34" charset="0"/>
                <a:ea typeface="Geist" pitchFamily="34" charset="-122"/>
                <a:cs typeface="Geist" pitchFamily="34" charset="-120"/>
              </a:rPr>
              <a:t>Revenue per available room = ADR * Occupancy.</a:t>
            </a:r>
            <a:endParaRPr lang="en-US" sz="1500" dirty="0"/>
          </a:p>
        </p:txBody>
      </p:sp>
      <p:sp>
        <p:nvSpPr>
          <p:cNvPr id="13" name="Text 10"/>
          <p:cNvSpPr/>
          <p:nvPr/>
        </p:nvSpPr>
        <p:spPr>
          <a:xfrm>
            <a:off x="8839795" y="4433054"/>
            <a:ext cx="2437090" cy="636627"/>
          </a:xfrm>
          <a:prstGeom prst="rect">
            <a:avLst/>
          </a:prstGeom>
          <a:noFill/>
          <a:ln/>
        </p:spPr>
        <p:txBody>
          <a:bodyPr wrap="none" lIns="0" tIns="0" rIns="0" bIns="0" rtlCol="0" anchor="t"/>
          <a:lstStyle/>
          <a:p>
            <a:pPr marL="0" indent="0" algn="ctr">
              <a:lnSpc>
                <a:spcPts val="5000"/>
              </a:lnSpc>
              <a:buNone/>
            </a:pPr>
            <a:r>
              <a:rPr lang="en-US" sz="5000" b="1" dirty="0">
                <a:solidFill>
                  <a:srgbClr val="4B4A4A"/>
                </a:solidFill>
                <a:latin typeface="Noto Serif SC Bold" pitchFamily="34" charset="0"/>
                <a:ea typeface="Noto Serif SC Bold" pitchFamily="34" charset="-122"/>
                <a:cs typeface="Noto Serif SC Bold" pitchFamily="34" charset="-120"/>
              </a:rPr>
              <a:t>7%</a:t>
            </a:r>
            <a:endParaRPr lang="en-US" sz="5000" dirty="0"/>
          </a:p>
        </p:txBody>
      </p:sp>
      <p:sp>
        <p:nvSpPr>
          <p:cNvPr id="14" name="Text 11"/>
          <p:cNvSpPr/>
          <p:nvPr/>
        </p:nvSpPr>
        <p:spPr>
          <a:xfrm>
            <a:off x="8852535" y="5310783"/>
            <a:ext cx="2411611" cy="301466"/>
          </a:xfrm>
          <a:prstGeom prst="rect">
            <a:avLst/>
          </a:prstGeom>
          <a:noFill/>
          <a:ln/>
        </p:spPr>
        <p:txBody>
          <a:bodyPr wrap="none" lIns="0" tIns="0" rIns="0" bIns="0" rtlCol="0" anchor="t"/>
          <a:lstStyle/>
          <a:p>
            <a:pPr marL="0" indent="0" algn="ctr">
              <a:lnSpc>
                <a:spcPts val="2350"/>
              </a:lnSpc>
              <a:buNone/>
            </a:pPr>
            <a:r>
              <a:rPr lang="en-US" sz="1850" b="1" dirty="0">
                <a:solidFill>
                  <a:srgbClr val="4B4A4A"/>
                </a:solidFill>
                <a:latin typeface="Noto Serif SC Bold" pitchFamily="34" charset="0"/>
                <a:ea typeface="Noto Serif SC Bold" pitchFamily="34" charset="-122"/>
                <a:cs typeface="Noto Serif SC Bold" pitchFamily="34" charset="-120"/>
              </a:rPr>
              <a:t>Cancellation Rate</a:t>
            </a:r>
            <a:endParaRPr lang="en-US" sz="1850" dirty="0"/>
          </a:p>
        </p:txBody>
      </p:sp>
      <p:sp>
        <p:nvSpPr>
          <p:cNvPr id="15" name="Text 12"/>
          <p:cNvSpPr/>
          <p:nvPr/>
        </p:nvSpPr>
        <p:spPr>
          <a:xfrm>
            <a:off x="8839795" y="5727978"/>
            <a:ext cx="2437090" cy="925830"/>
          </a:xfrm>
          <a:prstGeom prst="rect">
            <a:avLst/>
          </a:prstGeom>
          <a:noFill/>
          <a:ln/>
        </p:spPr>
        <p:txBody>
          <a:bodyPr wrap="square" lIns="0" tIns="0" rIns="0" bIns="0" rtlCol="0" anchor="t"/>
          <a:lstStyle/>
          <a:p>
            <a:pPr marL="0" indent="0" algn="ctr">
              <a:lnSpc>
                <a:spcPts val="2400"/>
              </a:lnSpc>
              <a:buNone/>
            </a:pPr>
            <a:r>
              <a:rPr lang="en-US" sz="1500" dirty="0">
                <a:solidFill>
                  <a:srgbClr val="4B4A4A"/>
                </a:solidFill>
                <a:latin typeface="Geist" pitchFamily="34" charset="0"/>
                <a:ea typeface="Geist" pitchFamily="34" charset="-122"/>
                <a:cs typeface="Geist" pitchFamily="34" charset="-120"/>
              </a:rPr>
              <a:t>Cancelled bookings / total bookings (segment by lead time &amp; channel).</a:t>
            </a:r>
            <a:endParaRPr lang="en-US" sz="1500" dirty="0"/>
          </a:p>
        </p:txBody>
      </p:sp>
      <p:sp>
        <p:nvSpPr>
          <p:cNvPr id="16" name="Text 13"/>
          <p:cNvSpPr/>
          <p:nvPr/>
        </p:nvSpPr>
        <p:spPr>
          <a:xfrm>
            <a:off x="6161603" y="6870740"/>
            <a:ext cx="7793593" cy="617220"/>
          </a:xfrm>
          <a:prstGeom prst="rect">
            <a:avLst/>
          </a:prstGeom>
          <a:noFill/>
          <a:ln/>
        </p:spPr>
        <p:txBody>
          <a:bodyPr wrap="square" lIns="0" tIns="0" rIns="0" bIns="0" rtlCol="0" anchor="t"/>
          <a:lstStyle/>
          <a:p>
            <a:pPr marL="0" indent="0" algn="l">
              <a:lnSpc>
                <a:spcPts val="2400"/>
              </a:lnSpc>
              <a:buNone/>
            </a:pPr>
            <a:r>
              <a:rPr lang="en-US" sz="1500" dirty="0">
                <a:solidFill>
                  <a:srgbClr val="4B4A4A"/>
                </a:solidFill>
                <a:latin typeface="Geist" pitchFamily="34" charset="0"/>
                <a:ea typeface="Geist" pitchFamily="34" charset="-122"/>
                <a:cs typeface="Geist" pitchFamily="34" charset="-120"/>
              </a:rPr>
              <a:t>Use segmentation by HOTEL_TYPE, MARKET_SEGMENT, DISTRIBUTION_CHANNEL, and COUNTRY for deeper insights.</a:t>
            </a:r>
            <a:endParaRPr lang="en-US" sz="1500" dirty="0"/>
          </a:p>
        </p:txBody>
      </p:sp>
      <p:pic>
        <p:nvPicPr>
          <p:cNvPr id="18" name="Picture 17">
            <a:extLst>
              <a:ext uri="{FF2B5EF4-FFF2-40B4-BE49-F238E27FC236}">
                <a16:creationId xmlns:a16="http://schemas.microsoft.com/office/drawing/2014/main" id="{860A10C9-DFFD-0FCD-B848-3EF5FD7500D5}"/>
              </a:ext>
            </a:extLst>
          </p:cNvPr>
          <p:cNvPicPr>
            <a:picLocks noChangeAspect="1"/>
          </p:cNvPicPr>
          <p:nvPr/>
        </p:nvPicPr>
        <p:blipFill>
          <a:blip r:embed="rId3"/>
          <a:stretch>
            <a:fillRect/>
          </a:stretch>
        </p:blipFill>
        <p:spPr>
          <a:xfrm>
            <a:off x="194552" y="87550"/>
            <a:ext cx="5476673" cy="714983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3F876-9626-70C3-A6D7-4874AE52800E}"/>
              </a:ext>
            </a:extLst>
          </p:cNvPr>
          <p:cNvSpPr txBox="1"/>
          <p:nvPr/>
        </p:nvSpPr>
        <p:spPr>
          <a:xfrm>
            <a:off x="323385" y="825190"/>
            <a:ext cx="12846205" cy="7181386"/>
          </a:xfrm>
          <a:prstGeom prst="rect">
            <a:avLst/>
          </a:prstGeom>
          <a:noFill/>
        </p:spPr>
        <p:txBody>
          <a:bodyPr wrap="square" rtlCol="0">
            <a:spAutoFit/>
          </a:bodyPr>
          <a:lstStyle/>
          <a:p>
            <a:endParaRPr lang="en-IN"/>
          </a:p>
        </p:txBody>
      </p:sp>
      <p:sp>
        <p:nvSpPr>
          <p:cNvPr id="5" name="TextBox 4">
            <a:extLst>
              <a:ext uri="{FF2B5EF4-FFF2-40B4-BE49-F238E27FC236}">
                <a16:creationId xmlns:a16="http://schemas.microsoft.com/office/drawing/2014/main" id="{8C1DB28B-3EC1-8413-CA94-00E61DD2FA35}"/>
              </a:ext>
            </a:extLst>
          </p:cNvPr>
          <p:cNvSpPr txBox="1"/>
          <p:nvPr/>
        </p:nvSpPr>
        <p:spPr>
          <a:xfrm>
            <a:off x="3453319" y="17382"/>
            <a:ext cx="6254173" cy="523220"/>
          </a:xfrm>
          <a:prstGeom prst="rect">
            <a:avLst/>
          </a:prstGeom>
          <a:noFill/>
        </p:spPr>
        <p:txBody>
          <a:bodyPr wrap="square" rtlCol="0">
            <a:spAutoFit/>
          </a:bodyPr>
          <a:lstStyle/>
          <a:p>
            <a:pPr algn="ctr"/>
            <a:r>
              <a:rPr lang="en-US" sz="2800" dirty="0">
                <a:solidFill>
                  <a:srgbClr val="00B050"/>
                </a:solidFill>
                <a:latin typeface="Arial Black" panose="020B0A04020102020204" pitchFamily="34" charset="0"/>
              </a:rPr>
              <a:t> </a:t>
            </a:r>
            <a:r>
              <a:rPr lang="en-US"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Hotel Booking Dashboard</a:t>
            </a:r>
            <a:endParaRPr lang="en-IN" sz="2800" dirty="0">
              <a:solidFill>
                <a:srgbClr val="00B050"/>
              </a:solidFill>
              <a:latin typeface="Arial Black" panose="020B0A04020102020204" pitchFamily="34" charset="0"/>
            </a:endParaRPr>
          </a:p>
        </p:txBody>
      </p:sp>
      <p:pic>
        <p:nvPicPr>
          <p:cNvPr id="6" name="Picture 5">
            <a:extLst>
              <a:ext uri="{FF2B5EF4-FFF2-40B4-BE49-F238E27FC236}">
                <a16:creationId xmlns:a16="http://schemas.microsoft.com/office/drawing/2014/main" id="{BFE2765B-9CA3-8779-22A1-604F31C240D3}"/>
              </a:ext>
            </a:extLst>
          </p:cNvPr>
          <p:cNvPicPr>
            <a:picLocks noChangeAspect="1"/>
          </p:cNvPicPr>
          <p:nvPr/>
        </p:nvPicPr>
        <p:blipFill>
          <a:blip r:embed="rId2"/>
          <a:stretch>
            <a:fillRect/>
          </a:stretch>
        </p:blipFill>
        <p:spPr>
          <a:xfrm>
            <a:off x="557540" y="867325"/>
            <a:ext cx="13567022" cy="7097115"/>
          </a:xfrm>
          <a:prstGeom prst="rect">
            <a:avLst/>
          </a:prstGeom>
        </p:spPr>
      </p:pic>
    </p:spTree>
    <p:extLst>
      <p:ext uri="{BB962C8B-B14F-4D97-AF65-F5344CB8AC3E}">
        <p14:creationId xmlns:p14="http://schemas.microsoft.com/office/powerpoint/2010/main" val="775476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895606" y="785641"/>
            <a:ext cx="7647384" cy="708779"/>
          </a:xfrm>
          <a:prstGeom prst="rect">
            <a:avLst/>
          </a:prstGeom>
          <a:noFill/>
          <a:ln/>
        </p:spPr>
        <p:txBody>
          <a:bodyPr wrap="none" lIns="0" tIns="0" rIns="0" bIns="0" rtlCol="0" anchor="t"/>
          <a:lstStyle/>
          <a:p>
            <a:pPr marL="0" indent="0" algn="l">
              <a:lnSpc>
                <a:spcPts val="5550"/>
              </a:lnSpc>
              <a:buNone/>
            </a:pPr>
            <a:r>
              <a:rPr lang="en-US" sz="445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Noto Serif SC Bold" pitchFamily="34" charset="0"/>
                <a:ea typeface="Noto Serif SC Bold" pitchFamily="34" charset="-122"/>
                <a:cs typeface="Noto Serif SC Bold" pitchFamily="34" charset="-120"/>
              </a:rPr>
              <a:t>Example Charts to Include</a:t>
            </a:r>
            <a:endParaRPr lang="en-US" sz="445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3" name="Image 0" descr="preencoded.png"/>
          <p:cNvPicPr>
            <a:picLocks noChangeAspect="1"/>
          </p:cNvPicPr>
          <p:nvPr/>
        </p:nvPicPr>
        <p:blipFill>
          <a:blip r:embed="rId3"/>
          <a:stretch>
            <a:fillRect/>
          </a:stretch>
        </p:blipFill>
        <p:spPr>
          <a:xfrm>
            <a:off x="793790" y="2507933"/>
            <a:ext cx="4158615" cy="2570202"/>
          </a:xfrm>
          <a:prstGeom prst="rect">
            <a:avLst/>
          </a:prstGeom>
        </p:spPr>
      </p:pic>
      <p:sp>
        <p:nvSpPr>
          <p:cNvPr id="4" name="Text 1"/>
          <p:cNvSpPr/>
          <p:nvPr/>
        </p:nvSpPr>
        <p:spPr>
          <a:xfrm>
            <a:off x="793790" y="5304949"/>
            <a:ext cx="3101816"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Bookings Time Series</a:t>
            </a:r>
            <a:endParaRPr lang="en-US" sz="2200" dirty="0"/>
          </a:p>
        </p:txBody>
      </p:sp>
      <p:sp>
        <p:nvSpPr>
          <p:cNvPr id="5" name="Text 2"/>
          <p:cNvSpPr/>
          <p:nvPr/>
        </p:nvSpPr>
        <p:spPr>
          <a:xfrm>
            <a:off x="793790" y="5795367"/>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Daily/weekly booked rooms and rolling 7-day average to smooth seasonality.</a:t>
            </a:r>
            <a:endParaRPr lang="en-US" sz="1750" dirty="0"/>
          </a:p>
        </p:txBody>
      </p:sp>
      <p:pic>
        <p:nvPicPr>
          <p:cNvPr id="6" name="Image 1" descr="preencoded.png"/>
          <p:cNvPicPr>
            <a:picLocks noChangeAspect="1"/>
          </p:cNvPicPr>
          <p:nvPr/>
        </p:nvPicPr>
        <p:blipFill>
          <a:blip r:embed="rId4"/>
          <a:stretch>
            <a:fillRect/>
          </a:stretch>
        </p:blipFill>
        <p:spPr>
          <a:xfrm>
            <a:off x="5235893" y="2507933"/>
            <a:ext cx="4158615" cy="2570202"/>
          </a:xfrm>
          <a:prstGeom prst="rect">
            <a:avLst/>
          </a:prstGeom>
        </p:spPr>
      </p:pic>
      <p:sp>
        <p:nvSpPr>
          <p:cNvPr id="7" name="Text 3"/>
          <p:cNvSpPr/>
          <p:nvPr/>
        </p:nvSpPr>
        <p:spPr>
          <a:xfrm>
            <a:off x="5235893" y="5304949"/>
            <a:ext cx="2934057"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Revenue by Channel</a:t>
            </a:r>
            <a:endParaRPr lang="en-US" sz="2200" dirty="0"/>
          </a:p>
        </p:txBody>
      </p:sp>
      <p:sp>
        <p:nvSpPr>
          <p:cNvPr id="8" name="Text 4"/>
          <p:cNvSpPr/>
          <p:nvPr/>
        </p:nvSpPr>
        <p:spPr>
          <a:xfrm>
            <a:off x="5235893" y="5795367"/>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Stacked bars for direct, TA/TO, corporate, GDS — helps prioritize distribution strategy.</a:t>
            </a:r>
            <a:endParaRPr lang="en-US" sz="1750" dirty="0"/>
          </a:p>
        </p:txBody>
      </p:sp>
      <p:pic>
        <p:nvPicPr>
          <p:cNvPr id="9" name="Image 2" descr="preencoded.png"/>
          <p:cNvPicPr>
            <a:picLocks noChangeAspect="1"/>
          </p:cNvPicPr>
          <p:nvPr/>
        </p:nvPicPr>
        <p:blipFill>
          <a:blip r:embed="rId5"/>
          <a:stretch>
            <a:fillRect/>
          </a:stretch>
        </p:blipFill>
        <p:spPr>
          <a:xfrm>
            <a:off x="9677995" y="2507933"/>
            <a:ext cx="4158615" cy="2570202"/>
          </a:xfrm>
          <a:prstGeom prst="rect">
            <a:avLst/>
          </a:prstGeom>
        </p:spPr>
      </p:pic>
      <p:sp>
        <p:nvSpPr>
          <p:cNvPr id="10" name="Text 5"/>
          <p:cNvSpPr/>
          <p:nvPr/>
        </p:nvSpPr>
        <p:spPr>
          <a:xfrm>
            <a:off x="9677995" y="5304949"/>
            <a:ext cx="320099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Cancellation Heatmap</a:t>
            </a:r>
            <a:endParaRPr lang="en-US" sz="2200" dirty="0"/>
          </a:p>
        </p:txBody>
      </p:sp>
      <p:sp>
        <p:nvSpPr>
          <p:cNvPr id="11" name="Text 6"/>
          <p:cNvSpPr/>
          <p:nvPr/>
        </p:nvSpPr>
        <p:spPr>
          <a:xfrm>
            <a:off x="9677995" y="5795367"/>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Map cancellations by arrival date and lead time to identify risk windows.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26DBEB-DEAC-9A0A-1092-F9AD2D7C53AE}"/>
              </a:ext>
            </a:extLst>
          </p:cNvPr>
          <p:cNvSpPr txBox="1"/>
          <p:nvPr/>
        </p:nvSpPr>
        <p:spPr>
          <a:xfrm>
            <a:off x="4008863" y="351857"/>
            <a:ext cx="6612673" cy="1015663"/>
          </a:xfrm>
          <a:prstGeom prst="rect">
            <a:avLst/>
          </a:prstGeom>
          <a:noFill/>
        </p:spPr>
        <p:txBody>
          <a:bodyPr wrap="square" rtlCol="0">
            <a:spAutoFit/>
          </a:bodyPr>
          <a:lstStyle/>
          <a:p>
            <a:r>
              <a:rPr 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conclusion</a:t>
            </a:r>
            <a:endParaRPr lang="en-IN"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endParaRPr>
          </a:p>
        </p:txBody>
      </p:sp>
      <p:sp>
        <p:nvSpPr>
          <p:cNvPr id="3" name="TextBox 2">
            <a:extLst>
              <a:ext uri="{FF2B5EF4-FFF2-40B4-BE49-F238E27FC236}">
                <a16:creationId xmlns:a16="http://schemas.microsoft.com/office/drawing/2014/main" id="{F67A653D-C5FB-7E89-FF00-C0D672533213}"/>
              </a:ext>
            </a:extLst>
          </p:cNvPr>
          <p:cNvSpPr txBox="1"/>
          <p:nvPr/>
        </p:nvSpPr>
        <p:spPr>
          <a:xfrm>
            <a:off x="1438507" y="1839951"/>
            <a:ext cx="11931805" cy="4801314"/>
          </a:xfrm>
          <a:prstGeom prst="rect">
            <a:avLst/>
          </a:prstGeom>
          <a:noFill/>
        </p:spPr>
        <p:txBody>
          <a:bodyPr wrap="square" rtlCol="0">
            <a:spAutoFit/>
          </a:bodyPr>
          <a:lstStyle/>
          <a:p>
            <a:pPr fontAlgn="base"/>
            <a:r>
              <a:rPr lang="en-US" b="1" dirty="0"/>
              <a:t>City Hotels </a:t>
            </a:r>
            <a:r>
              <a:rPr lang="en-US" dirty="0"/>
              <a:t>has a higher overall </a:t>
            </a:r>
            <a:r>
              <a:rPr lang="en-US" b="1" dirty="0"/>
              <a:t>booking rate </a:t>
            </a:r>
            <a:r>
              <a:rPr lang="en-US" dirty="0"/>
              <a:t>than </a:t>
            </a:r>
            <a:r>
              <a:rPr lang="en-US" b="1" dirty="0"/>
              <a:t>Resort Hotels</a:t>
            </a:r>
            <a:r>
              <a:rPr lang="en-US" dirty="0"/>
              <a:t>. To improve this, Resort Hotels should consider the </a:t>
            </a:r>
            <a:r>
              <a:rPr lang="en-US" b="1" dirty="0"/>
              <a:t>services</a:t>
            </a:r>
            <a:r>
              <a:rPr lang="en-US" dirty="0"/>
              <a:t> provided by City Hotels to boost the number of bookings.</a:t>
            </a:r>
            <a:endParaRPr lang="en-US" b="1" dirty="0"/>
          </a:p>
          <a:p>
            <a:pPr fontAlgn="base"/>
            <a:r>
              <a:rPr lang="en-US" dirty="0"/>
              <a:t>The City Hotel has a higher </a:t>
            </a:r>
            <a:r>
              <a:rPr lang="en-US" b="1" dirty="0"/>
              <a:t>rate of cancellations </a:t>
            </a:r>
            <a:r>
              <a:rPr lang="en-US" dirty="0"/>
              <a:t>than Resort Hotels. By implementing </a:t>
            </a:r>
            <a:r>
              <a:rPr lang="en-US" b="1" dirty="0"/>
              <a:t>focused strategies </a:t>
            </a:r>
            <a:r>
              <a:rPr lang="en-US" dirty="0"/>
              <a:t>to </a:t>
            </a:r>
            <a:r>
              <a:rPr lang="en-US" b="1" dirty="0"/>
              <a:t>retain guests</a:t>
            </a:r>
            <a:r>
              <a:rPr lang="en-US" dirty="0"/>
              <a:t>, the hotel could substantially decrease the impact on its revenue.</a:t>
            </a:r>
          </a:p>
          <a:p>
            <a:pPr fontAlgn="base"/>
            <a:r>
              <a:rPr lang="en-US" b="1" dirty="0"/>
              <a:t>August</a:t>
            </a:r>
            <a:r>
              <a:rPr lang="en-US" dirty="0"/>
              <a:t> is one of the peak months for bookings. Hotels should </a:t>
            </a:r>
            <a:r>
              <a:rPr lang="en-US" b="1" dirty="0"/>
              <a:t>manage</a:t>
            </a:r>
            <a:r>
              <a:rPr lang="en-US" dirty="0"/>
              <a:t> their </a:t>
            </a:r>
            <a:r>
              <a:rPr lang="en-US" b="1" dirty="0"/>
              <a:t>resources</a:t>
            </a:r>
            <a:r>
              <a:rPr lang="en-US" dirty="0"/>
              <a:t> during these months and conduct </a:t>
            </a:r>
            <a:r>
              <a:rPr lang="en-US" b="1" dirty="0"/>
              <a:t>promotional activities </a:t>
            </a:r>
            <a:r>
              <a:rPr lang="en-US" dirty="0"/>
              <a:t>during</a:t>
            </a:r>
            <a:r>
              <a:rPr lang="en-US" b="1" dirty="0"/>
              <a:t> </a:t>
            </a:r>
            <a:r>
              <a:rPr lang="en-US" dirty="0"/>
              <a:t>months with</a:t>
            </a:r>
            <a:r>
              <a:rPr lang="en-US" b="1" dirty="0"/>
              <a:t> fewer bookings</a:t>
            </a:r>
            <a:r>
              <a:rPr lang="en-US" dirty="0"/>
              <a:t>.</a:t>
            </a:r>
            <a:endParaRPr lang="en-US" b="1" dirty="0"/>
          </a:p>
          <a:p>
            <a:pPr fontAlgn="base"/>
            <a:r>
              <a:rPr lang="en-US" dirty="0"/>
              <a:t>By promoting </a:t>
            </a:r>
            <a:r>
              <a:rPr lang="en-US" b="1" dirty="0"/>
              <a:t>early-bird specials</a:t>
            </a:r>
            <a:r>
              <a:rPr lang="en-US" dirty="0"/>
              <a:t>, hotels can encourage reservations well before the usual </a:t>
            </a:r>
            <a:r>
              <a:rPr lang="en-US" b="1" dirty="0"/>
              <a:t>lead time </a:t>
            </a:r>
            <a:r>
              <a:rPr lang="en-US" dirty="0"/>
              <a:t>of </a:t>
            </a:r>
            <a:r>
              <a:rPr lang="en-US" b="1" dirty="0"/>
              <a:t>75 to 85 days</a:t>
            </a:r>
            <a:r>
              <a:rPr lang="en-US" dirty="0"/>
              <a:t>, enhancing </a:t>
            </a:r>
            <a:r>
              <a:rPr lang="en-US" b="1" dirty="0"/>
              <a:t>financial liquidity </a:t>
            </a:r>
            <a:r>
              <a:rPr lang="en-US" dirty="0"/>
              <a:t>and diminishing the rates of last-minute room availability.</a:t>
            </a:r>
          </a:p>
          <a:p>
            <a:pPr fontAlgn="base"/>
            <a:r>
              <a:rPr lang="en-US" dirty="0"/>
              <a:t>Focusing on </a:t>
            </a:r>
            <a:r>
              <a:rPr lang="en-US" b="1" dirty="0"/>
              <a:t>‘BB’ </a:t>
            </a:r>
            <a:r>
              <a:rPr lang="en-US" dirty="0"/>
              <a:t>as the preferred </a:t>
            </a:r>
            <a:r>
              <a:rPr lang="en-US" b="1" dirty="0"/>
              <a:t>meal choice</a:t>
            </a:r>
            <a:r>
              <a:rPr lang="en-US" dirty="0"/>
              <a:t> and customizing the dining options and experiences could improve guest contentment.</a:t>
            </a:r>
          </a:p>
          <a:p>
            <a:pPr fontAlgn="base"/>
            <a:r>
              <a:rPr lang="en-US" b="1" dirty="0"/>
              <a:t>Concentrating marketing efforts </a:t>
            </a:r>
            <a:r>
              <a:rPr lang="en-US" dirty="0"/>
              <a:t>specifically in </a:t>
            </a:r>
            <a:r>
              <a:rPr lang="en-US" b="1" dirty="0"/>
              <a:t>Portugal, the UK, and France</a:t>
            </a:r>
            <a:r>
              <a:rPr lang="en-US" dirty="0"/>
              <a:t>, where most guests come from, could increase reservation numbers.</a:t>
            </a:r>
            <a:endParaRPr lang="en-US" b="1" dirty="0"/>
          </a:p>
          <a:p>
            <a:pPr fontAlgn="base"/>
            <a:r>
              <a:rPr lang="en-US" dirty="0"/>
              <a:t>The </a:t>
            </a:r>
            <a:r>
              <a:rPr lang="en-US" b="1" dirty="0"/>
              <a:t>low rate </a:t>
            </a:r>
            <a:r>
              <a:rPr lang="en-US" dirty="0"/>
              <a:t>of returning guests highlights the opportunity for implementing </a:t>
            </a:r>
            <a:r>
              <a:rPr lang="en-US" b="1" dirty="0"/>
              <a:t>loyalty programs </a:t>
            </a:r>
            <a:r>
              <a:rPr lang="en-US" dirty="0"/>
              <a:t>to increase the number of </a:t>
            </a:r>
            <a:r>
              <a:rPr lang="en-US" b="1" dirty="0"/>
              <a:t>repeat stays</a:t>
            </a:r>
            <a:r>
              <a:rPr lang="en-US" dirty="0"/>
              <a:t>.</a:t>
            </a:r>
          </a:p>
          <a:p>
            <a:pPr fontAlgn="base"/>
            <a:r>
              <a:rPr lang="en-US" dirty="0"/>
              <a:t>A considerable volume of reservations is secured via </a:t>
            </a:r>
            <a:r>
              <a:rPr lang="en-US" b="1" dirty="0"/>
              <a:t>agents</a:t>
            </a:r>
            <a:r>
              <a:rPr lang="en-US" dirty="0"/>
              <a:t>, highlighting the need to cultivate </a:t>
            </a:r>
            <a:r>
              <a:rPr lang="en-US" b="1" dirty="0"/>
              <a:t>robust partnerships</a:t>
            </a:r>
            <a:r>
              <a:rPr lang="en-US" dirty="0"/>
              <a:t> with these intermediaries.</a:t>
            </a:r>
          </a:p>
          <a:p>
            <a:endParaRPr lang="en-IN" dirty="0"/>
          </a:p>
        </p:txBody>
      </p:sp>
    </p:spTree>
    <p:extLst>
      <p:ext uri="{BB962C8B-B14F-4D97-AF65-F5344CB8AC3E}">
        <p14:creationId xmlns:p14="http://schemas.microsoft.com/office/powerpoint/2010/main" val="1765697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AF7FB2-BA5A-6B42-82DE-04D760B76D73}"/>
              </a:ext>
            </a:extLst>
          </p:cNvPr>
          <p:cNvSpPr txBox="1"/>
          <p:nvPr/>
        </p:nvSpPr>
        <p:spPr>
          <a:xfrm>
            <a:off x="2665616" y="2234269"/>
            <a:ext cx="8831765" cy="1107996"/>
          </a:xfrm>
          <a:prstGeom prst="rect">
            <a:avLst/>
          </a:prstGeom>
          <a:noFill/>
        </p:spPr>
        <p:txBody>
          <a:bodyPr wrap="square" rtlCol="0">
            <a:spAutoFit/>
          </a:bodyPr>
          <a:lstStyle/>
          <a:p>
            <a:pPr algn="ctr"/>
            <a:r>
              <a:rPr lang="en-US" sz="6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rPr>
              <a:t>Thank you!</a:t>
            </a:r>
            <a:endParaRPr lang="en-IN" sz="6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rial Black" panose="020B0A04020102020204" pitchFamily="34" charset="0"/>
            </a:endParaRPr>
          </a:p>
        </p:txBody>
      </p:sp>
    </p:spTree>
    <p:extLst>
      <p:ext uri="{BB962C8B-B14F-4D97-AF65-F5344CB8AC3E}">
        <p14:creationId xmlns:p14="http://schemas.microsoft.com/office/powerpoint/2010/main" val="356712586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396</TotalTime>
  <Words>984</Words>
  <Application>Microsoft Office PowerPoint</Application>
  <PresentationFormat>Custom</PresentationFormat>
  <Paragraphs>107</Paragraphs>
  <Slides>17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Geist</vt:lpstr>
      <vt:lpstr>Arial</vt:lpstr>
      <vt:lpstr>Noto Serif SC Bold</vt:lpstr>
      <vt:lpstr>Arial Black</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Administrator</dc:creator>
  <cp:lastModifiedBy>RUPESH PATIL</cp:lastModifiedBy>
  <cp:revision>11</cp:revision>
  <dcterms:created xsi:type="dcterms:W3CDTF">2025-10-31T14:06:17Z</dcterms:created>
  <dcterms:modified xsi:type="dcterms:W3CDTF">2025-11-13T06:28:22Z</dcterms:modified>
</cp:coreProperties>
</file>